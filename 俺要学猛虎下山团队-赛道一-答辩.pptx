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依据：开发设计文档 1、2.1；docs/00-项目总览.md。休比定位为 HarmonyOS 手机和平板智能个人助理。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截图：Phone26 模拟器 2026-10-31，助手首页和导航；依据 specs/13、14。截图为应用界面，当前不表示进行真实模型调用。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截图：Phone26 模拟器 2026-10-31，知识库首页及资料列表。依据开发设计文档 2.4.2；specs/02。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截图：Phone26 模拟器，资料详情显示测试文档。依据 specs/02、05；仅陈述界面和设计能力。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截图：Phone26 模拟器，日程工作台及手动新建表单；两图展示界面，不代表本次执行系统写入。依据 specs/01 及开发设计文档 2.5.2。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截图：ShuviTablet26 模拟器 2026-10-31，横屏知识库首页；图片为今日更新安装后的当前界面。依据 specs/15 和 docs/verification/平板端适配与手机对照验收记录.md。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截图：ShuviTablet26 模拟器 2026-10-31，竖屏知识库首页。响应式规则与历史验收范围见 specs/15。截图仅展示该页面，其他方向、键盘和任务状态以对应验收记录为准。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依据开发设计文档图 1、2.3；docs/06-Agent模块接入.md。架构图为设计图；设备直连搜索当前在 debug 版本开放。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 docs/architecture/知识库L0-L1-L2链路架构.md；开发设计文档图 3；specs/11、12。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依据开发设计文档 2.2、2.4、3.2；specs/03、11、14。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依据最终开发设计文档 3.1 成员分工；docs/08-项目进度与验收.md。已实现和待验收范围见仓库进度记录；搜索仅 debug 开放。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B877AF2C-4FEF-4469-8DD8-F7CBB080E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CA3C05FA-789C-452F-944F-0A65C244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sp>
        <p:nvSpPr>
          <p:cNvPr id="5" name="文本框 14">
            <a:extLst>
              <a:ext uri="{FF2B5EF4-FFF2-40B4-BE49-F238E27FC236}">
                <a16:creationId xmlns:a16="http://schemas.microsoft.com/office/drawing/2014/main" id="{DA58B5F5-0068-49FE-BE25-CCD4530EEA82}"/>
              </a:ext>
            </a:extLst>
          </p:cNvPr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6" name="直接连接符 15">
            <a:extLst>
              <a:ext uri="{FF2B5EF4-FFF2-40B4-BE49-F238E27FC236}">
                <a16:creationId xmlns:a16="http://schemas.microsoft.com/office/drawing/2014/main" id="{C64233F5-3774-4CB2-9476-7471931A551A}"/>
              </a:ext>
            </a:extLst>
          </p:cNvPr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5B2FB167-2B64-4B57-8974-7EB50C8BEB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sp>
        <p:nvSpPr>
          <p:cNvPr id="10" name="文本框 3">
            <a:extLst>
              <a:ext uri="{FF2B5EF4-FFF2-40B4-BE49-F238E27FC236}">
                <a16:creationId xmlns:a16="http://schemas.microsoft.com/office/drawing/2014/main" id="{1CB7BF8B-D43F-4CE3-8F5C-4C880CABAC43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11" name="直接连接符 15">
            <a:extLst>
              <a:ext uri="{FF2B5EF4-FFF2-40B4-BE49-F238E27FC236}">
                <a16:creationId xmlns:a16="http://schemas.microsoft.com/office/drawing/2014/main" id="{F30B2F35-557E-4EF8-B203-967572145DC4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2" name="图片 9">
            <a:extLst>
              <a:ext uri="{FF2B5EF4-FFF2-40B4-BE49-F238E27FC236}">
                <a16:creationId xmlns:a16="http://schemas.microsoft.com/office/drawing/2014/main" id="{0B7860ED-6FDD-4847-83F4-4AF2E2FB6E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>
            <a:extLst>
              <a:ext uri="{FF2B5EF4-FFF2-40B4-BE49-F238E27FC236}">
                <a16:creationId xmlns:a16="http://schemas.microsoft.com/office/drawing/2014/main" id="{F2DE7D23-3922-4C8E-B3D1-237CF399C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4D0E50CB-554D-481C-9640-0DEA0A8DA0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0EA2A875-0C3B-479A-A6B8-00F7B3C1AB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4">
            <a:extLst>
              <a:ext uri="{FF2B5EF4-FFF2-40B4-BE49-F238E27FC236}">
                <a16:creationId xmlns:a16="http://schemas.microsoft.com/office/drawing/2014/main" id="{2A903277-8108-4EA6-8935-686C1122A01F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26" name="直接连接符 15">
            <a:extLst>
              <a:ext uri="{FF2B5EF4-FFF2-40B4-BE49-F238E27FC236}">
                <a16:creationId xmlns:a16="http://schemas.microsoft.com/office/drawing/2014/main" id="{A66F1CDE-4E37-4D0B-B346-156A8A7AA83A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灯片编号占位符 5">
            <a:extLst>
              <a:ext uri="{FF2B5EF4-FFF2-40B4-BE49-F238E27FC236}">
                <a16:creationId xmlns:a16="http://schemas.microsoft.com/office/drawing/2014/main" id="{C7C85CC9-EAA2-4FBB-88EF-8E50978116B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28" name="文本占位符 9">
            <a:extLst>
              <a:ext uri="{FF2B5EF4-FFF2-40B4-BE49-F238E27FC236}">
                <a16:creationId xmlns:a16="http://schemas.microsoft.com/office/drawing/2014/main" id="{8BA910D3-B66E-470A-8E6F-231A7705148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>
              <a:buNone/>
            </a:pPr>
            <a:r>
              <a:t>单击此处编辑母版文本</a:t>
            </a:r>
          </a:p>
        </p:txBody>
      </p:sp>
      <p:pic>
        <p:nvPicPr>
          <p:cNvPr id="29" name="图片 1">
            <a:extLst>
              <a:ext uri="{FF2B5EF4-FFF2-40B4-BE49-F238E27FC236}">
                <a16:creationId xmlns:a16="http://schemas.microsoft.com/office/drawing/2014/main" id="{A4F0231C-9123-4C3E-A261-6F94AEB3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>
            <a:extLst>
              <a:ext uri="{FF2B5EF4-FFF2-40B4-BE49-F238E27FC236}">
                <a16:creationId xmlns:a16="http://schemas.microsoft.com/office/drawing/2014/main" id="{85FF183E-EC63-4D17-AB28-D9A46DB017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>
            <a:extLst>
              <a:ext uri="{FF2B5EF4-FFF2-40B4-BE49-F238E27FC236}">
                <a16:creationId xmlns:a16="http://schemas.microsoft.com/office/drawing/2014/main" id="{90B55F7D-AC9E-4879-82C7-73FE69AD19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pic>
        <p:nvPicPr>
          <p:cNvPr id="33" name="图片 3">
            <a:extLst>
              <a:ext uri="{FF2B5EF4-FFF2-40B4-BE49-F238E27FC236}">
                <a16:creationId xmlns:a16="http://schemas.microsoft.com/office/drawing/2014/main" id="{61C1AEEB-AD71-44EB-B908-3E7CD1B718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biLevel thresh="25000"/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sp>
        <p:nvSpPr>
          <p:cNvPr id="35" name="文本框 10">
            <a:extLst>
              <a:ext uri="{FF2B5EF4-FFF2-40B4-BE49-F238E27FC236}">
                <a16:creationId xmlns:a16="http://schemas.microsoft.com/office/drawing/2014/main" id="{62F1EF3D-6109-497A-A073-A345BFF61307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36" name="直接连接符 15">
            <a:extLst>
              <a:ext uri="{FF2B5EF4-FFF2-40B4-BE49-F238E27FC236}">
                <a16:creationId xmlns:a16="http://schemas.microsoft.com/office/drawing/2014/main" id="{947272E0-6512-41D4-92C7-522ADAFCCB54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37" name="图片 4">
            <a:extLst>
              <a:ext uri="{FF2B5EF4-FFF2-40B4-BE49-F238E27FC236}">
                <a16:creationId xmlns:a16="http://schemas.microsoft.com/office/drawing/2014/main" id="{06CCE7CF-7194-41C9-9787-B504FEE1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>
            <a:extLst>
              <a:ext uri="{FF2B5EF4-FFF2-40B4-BE49-F238E27FC236}">
                <a16:creationId xmlns:a16="http://schemas.microsoft.com/office/drawing/2014/main" id="{A104E543-DF0E-4EC7-8FF5-D2A7C9E76F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41" name="文本框 2">
            <a:extLst>
              <a:ext uri="{FF2B5EF4-FFF2-40B4-BE49-F238E27FC236}">
                <a16:creationId xmlns:a16="http://schemas.microsoft.com/office/drawing/2014/main" id="{6D836A51-2F71-44F3-BF62-08A0310C5341}"/>
              </a:ext>
            </a:extLst>
          </p:cNvPr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42" name="直接连接符 15">
            <a:extLst>
              <a:ext uri="{FF2B5EF4-FFF2-40B4-BE49-F238E27FC236}">
                <a16:creationId xmlns:a16="http://schemas.microsoft.com/office/drawing/2014/main" id="{7FF34AAB-E0D0-482F-9CEF-D88F0198C71E}"/>
              </a:ext>
            </a:extLst>
          </p:cNvPr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3" name="矩形 9">
            <a:extLst>
              <a:ext uri="{FF2B5EF4-FFF2-40B4-BE49-F238E27FC236}">
                <a16:creationId xmlns:a16="http://schemas.microsoft.com/office/drawing/2014/main" id="{84535EAE-864A-450D-8CC5-D1799C851B7B}"/>
              </a:ext>
            </a:extLst>
          </p:cNvPr>
          <p:cNvSpPr>
            <a:spLocks noGrp="1"/>
          </p:cNvSpPr>
          <p:nvPr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0" baseline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/>
          </a:p>
        </p:txBody>
      </p:sp>
      <p:sp>
        <p:nvSpPr>
          <p:cNvPr id="44" name="文本框 10">
            <a:extLst>
              <a:ext uri="{FF2B5EF4-FFF2-40B4-BE49-F238E27FC236}">
                <a16:creationId xmlns:a16="http://schemas.microsoft.com/office/drawing/2014/main" id="{D96F0A34-E906-44C8-B1E8-C82B70006EAF}"/>
              </a:ext>
            </a:extLst>
          </p:cNvPr>
          <p:cNvSpPr>
            <a:spLocks noGrp="1"/>
          </p:cNvSpPr>
          <p:nvPr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"/>
              </a:spcBef>
              <a:spcAft>
                <a:spcPct val="1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>
            <a:extLst>
              <a:ext uri="{FF2B5EF4-FFF2-40B4-BE49-F238E27FC236}">
                <a16:creationId xmlns:a16="http://schemas.microsoft.com/office/drawing/2014/main" id="{9D9168C8-E294-42B9-BB6C-EBEA2F87A6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  <p:sp>
        <p:nvSpPr>
          <p:cNvPr id="48" name="文本框 6">
            <a:extLst>
              <a:ext uri="{FF2B5EF4-FFF2-40B4-BE49-F238E27FC236}">
                <a16:creationId xmlns:a16="http://schemas.microsoft.com/office/drawing/2014/main" id="{A88A75F5-ECA9-4B03-856B-EA9305E48E38}"/>
              </a:ext>
            </a:extLst>
          </p:cNvPr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/>
          </a:p>
        </p:txBody>
      </p:sp>
      <p:sp>
        <p:nvSpPr>
          <p:cNvPr id="49" name="直接连接符 7">
            <a:extLst>
              <a:ext uri="{FF2B5EF4-FFF2-40B4-BE49-F238E27FC236}">
                <a16:creationId xmlns:a16="http://schemas.microsoft.com/office/drawing/2014/main" id="{71A378E6-6880-4FB1-9048-B9D464A4A057}"/>
              </a:ext>
            </a:extLst>
          </p:cNvPr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>
            <a:extLst>
              <a:ext uri="{FF2B5EF4-FFF2-40B4-BE49-F238E27FC236}">
                <a16:creationId xmlns:a16="http://schemas.microsoft.com/office/drawing/2014/main" id="{9F6696EA-91A7-4355-BAC2-839BA97D33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>
            <a:extLst>
              <a:ext uri="{FF2B5EF4-FFF2-40B4-BE49-F238E27FC236}">
                <a16:creationId xmlns:a16="http://schemas.microsoft.com/office/drawing/2014/main" id="{EB10F03F-010A-4CCF-A1F0-6D96B2F74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ABC47A4-756D-490B-A52F-7D9E2C9FC05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>
            <a:extLst>
              <a:ext uri="{FF2B5EF4-FFF2-40B4-BE49-F238E27FC236}">
                <a16:creationId xmlns:a16="http://schemas.microsoft.com/office/drawing/2014/main" id="{6FB8F9C4-51B7-4920-B922-F31A28EC29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B62AA661-0CB7-4B73-8194-702B93222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474B5B37-BD33-4DF0-B9A8-96587D642AD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buNone/>
            </a:pPr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>
            <a:extLst>
              <a:ext uri="{FF2B5EF4-FFF2-40B4-BE49-F238E27FC236}">
                <a16:creationId xmlns:a16="http://schemas.microsoft.com/office/drawing/2014/main" id="{9DA3CC81-AC14-4EDE-B524-2926FDBA4F44}"/>
              </a:ext>
            </a:extLst>
          </p:cNvPr>
          <p:cNvSpPr>
            <a:spLocks noGrp="1"/>
          </p:cNvSpPr>
          <p:nvPr/>
        </p:nvSpPr>
        <p:spPr>
          <a:xfrm>
            <a:off x="3417888" y="5226665"/>
            <a:ext cx="5356225" cy="725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俺要学猛虎下山团队</a:t>
            </a:r>
          </a:p>
          <a:p>
            <a:pPr algn="ctr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2026 年 10 月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E0D48AF0-F381-445B-B4DC-6C258EE36BDF}"/>
              </a:ext>
            </a:extLst>
          </p:cNvPr>
          <p:cNvSpPr>
            <a:spLocks noGrp="1"/>
          </p:cNvSpPr>
          <p:nvPr/>
        </p:nvSpPr>
        <p:spPr>
          <a:xfrm>
            <a:off x="869656" y="1706953"/>
            <a:ext cx="10830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1"/>
              </a:spcBef>
              <a:spcAft>
                <a:spcPct val="1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2026开源鸿蒙大学生创新大赛-赛道一</a:t>
            </a: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E04E7C15-A5D3-4007-AE2C-172F5DEDE0F7}"/>
              </a:ext>
            </a:extLst>
          </p:cNvPr>
          <p:cNvSpPr>
            <a:spLocks noGrp="1"/>
          </p:cNvSpPr>
          <p:nvPr/>
        </p:nvSpPr>
        <p:spPr>
          <a:xfrm>
            <a:off x="3232175" y="2868089"/>
            <a:ext cx="572765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1"/>
              </a:spcBef>
              <a:spcAft>
                <a:spcPct val="1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休比 Shuvi 智能个人助理</a:t>
            </a:r>
          </a:p>
        </p:txBody>
      </p:sp>
    </p:spTree>
    <p:extLst>
      <p:ext uri="{BB962C8B-B14F-4D97-AF65-F5344CB8AC3E}">
        <p14:creationId xmlns:p14="http://schemas.microsoft.com/office/powerpoint/2010/main" val="335537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>
            <a:extLst>
              <a:ext uri="{FF2B5EF4-FFF2-40B4-BE49-F238E27FC236}">
                <a16:creationId xmlns:a16="http://schemas.microsoft.com/office/drawing/2014/main" id="{252DADEB-7AAB-41D3-8149-5ED855C722F2}"/>
              </a:ext>
            </a:extLst>
          </p:cNvPr>
          <p:cNvSpPr>
            <a:spLocks noGrp="1"/>
          </p:cNvSpPr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/>
          </a:p>
        </p:txBody>
      </p:sp>
      <p:sp>
        <p:nvSpPr>
          <p:cNvPr id="7" name="圆角矩形 27">
            <a:extLst>
              <a:ext uri="{FF2B5EF4-FFF2-40B4-BE49-F238E27FC236}">
                <a16:creationId xmlns:a16="http://schemas.microsoft.com/office/drawing/2014/main" id="{881A2B06-7599-4D10-B54F-90E7713289C4}"/>
              </a:ext>
            </a:extLst>
          </p:cNvPr>
          <p:cNvSpPr>
            <a:spLocks noGrp="1"/>
          </p:cNvSpPr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关键设计与实现</a:t>
            </a:r>
            <a:endParaRPr/>
          </a:p>
        </p:txBody>
      </p:sp>
      <p:sp>
        <p:nvSpPr>
          <p:cNvPr id="8" name="圆角矩形 28">
            <a:extLst>
              <a:ext uri="{FF2B5EF4-FFF2-40B4-BE49-F238E27FC236}">
                <a16:creationId xmlns:a16="http://schemas.microsoft.com/office/drawing/2014/main" id="{2F261605-3FAE-4225-ABD7-EF84BF5CE277}"/>
              </a:ext>
            </a:extLst>
          </p:cNvPr>
          <p:cNvSpPr>
            <a:spLocks noGrp="1"/>
          </p:cNvSpPr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/>
          </a:p>
        </p:txBody>
      </p:sp>
      <p:sp>
        <p:nvSpPr>
          <p:cNvPr id="9" name="圆角矩形 29">
            <a:extLst>
              <a:ext uri="{FF2B5EF4-FFF2-40B4-BE49-F238E27FC236}">
                <a16:creationId xmlns:a16="http://schemas.microsoft.com/office/drawing/2014/main" id="{13B3A7D9-34EA-4D66-AE83-D338522B40F8}"/>
              </a:ext>
            </a:extLst>
          </p:cNvPr>
          <p:cNvSpPr>
            <a:spLocks noGrp="1"/>
          </p:cNvSpPr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dirty="0" err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完成</a:t>
            </a:r>
            <a:r>
              <a:rPr lang="zh-CN" altLang="en-US" sz="2400" b="1" dirty="0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，优化目标与</a:t>
            </a:r>
            <a:r>
              <a:rPr sz="2400" b="1" dirty="0" err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分工</a:t>
            </a:r>
            <a:endParaRPr sz="2400" b="1" dirty="0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>
              <a:ext uri="{FF2B5EF4-FFF2-40B4-BE49-F238E27FC236}">
                <a16:creationId xmlns:a16="http://schemas.microsoft.com/office/drawing/2014/main" id="{D6F7A367-36D4-4A03-A0DA-C889E4E6AC91}"/>
              </a:ext>
            </a:extLst>
          </p:cNvPr>
          <p:cNvSpPr>
            <a:spLocks noGrp="1"/>
          </p:cNvSpPr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/>
          </a:p>
        </p:txBody>
      </p:sp>
      <p:sp>
        <p:nvSpPr>
          <p:cNvPr id="11" name="圆角矩形 44">
            <a:extLst>
              <a:ext uri="{FF2B5EF4-FFF2-40B4-BE49-F238E27FC236}">
                <a16:creationId xmlns:a16="http://schemas.microsoft.com/office/drawing/2014/main" id="{0A14830E-3758-4E5D-827E-5BF7DADC57EA}"/>
              </a:ext>
            </a:extLst>
          </p:cNvPr>
          <p:cNvSpPr>
            <a:spLocks noGrp="1"/>
          </p:cNvSpPr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产品需求与使用体验</a:t>
            </a:r>
            <a:endParaRPr/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4D4122AD-781D-45AF-B124-7050C7C6C6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30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>
                <a:latin typeface="微软雅黑"/>
                <a:ea typeface="微软雅黑"/>
                <a:cs typeface="微软雅黑"/>
              </a:rPr>
              <a:t>3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个人助理需要解决什么问题</a:t>
            </a:r>
            <a:endParaRPr/>
          </a:p>
        </p:txBody>
      </p:sp>
      <p:sp>
        <p:nvSpPr>
          <p:cNvPr id="16" name="内容 一个助手，连接个">
            <a:extLst>
              <a:ext uri="{FF2B5EF4-FFF2-40B4-BE49-F238E27FC236}">
                <a16:creationId xmlns:a16="http://schemas.microsoft.com/office/drawing/2014/main" id="{F763680B-5CFF-47CE-8026-5A4415EA7EE1}"/>
              </a:ext>
            </a:extLst>
          </p:cNvPr>
          <p:cNvSpPr>
            <a:spLocks noGrp="1"/>
          </p:cNvSpPr>
          <p:nvPr/>
        </p:nvSpPr>
        <p:spPr>
          <a:xfrm>
            <a:off x="619125" y="106680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一个助手，连接个人资料与日常事务</a:t>
            </a:r>
          </a:p>
        </p:txBody>
      </p:sp>
      <p:sp>
        <p:nvSpPr>
          <p:cNvPr id="17" name="内容 信息分散">
            <a:extLst>
              <a:ext uri="{FF2B5EF4-FFF2-40B4-BE49-F238E27FC236}">
                <a16:creationId xmlns:a16="http://schemas.microsoft.com/office/drawing/2014/main" id="{27C61BD3-5350-43E8-A867-960856737F87}"/>
              </a:ext>
            </a:extLst>
          </p:cNvPr>
          <p:cNvSpPr>
            <a:spLocks noGrp="1"/>
          </p:cNvSpPr>
          <p:nvPr/>
        </p:nvSpPr>
        <p:spPr>
          <a:xfrm>
            <a:off x="619125" y="1938337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信息分散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内容 文件和笔记散落在">
            <a:extLst>
              <a:ext uri="{FF2B5EF4-FFF2-40B4-BE49-F238E27FC236}">
                <a16:creationId xmlns:a16="http://schemas.microsoft.com/office/drawing/2014/main" id="{21091D0E-58DA-4AD8-BDE6-4B1CCF22AD04}"/>
              </a:ext>
            </a:extLst>
          </p:cNvPr>
          <p:cNvSpPr>
            <a:spLocks noGrp="1"/>
          </p:cNvSpPr>
          <p:nvPr/>
        </p:nvSpPr>
        <p:spPr>
          <a:xfrm>
            <a:off x="619126" y="2333624"/>
            <a:ext cx="4381500" cy="9607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文件和笔记散落在不同位置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需要时查找成本高</a:t>
            </a:r>
            <a:endParaRPr sz="2400" b="1" dirty="0"/>
          </a:p>
        </p:txBody>
      </p:sp>
      <p:sp>
        <p:nvSpPr>
          <p:cNvPr id="19" name="内容 事务繁琐">
            <a:extLst>
              <a:ext uri="{FF2B5EF4-FFF2-40B4-BE49-F238E27FC236}">
                <a16:creationId xmlns:a16="http://schemas.microsoft.com/office/drawing/2014/main" id="{E6796C17-2C35-47E5-A0AA-FDDD4A75ED6B}"/>
              </a:ext>
            </a:extLst>
          </p:cNvPr>
          <p:cNvSpPr>
            <a:spLocks noGrp="1"/>
          </p:cNvSpPr>
          <p:nvPr/>
        </p:nvSpPr>
        <p:spPr>
          <a:xfrm>
            <a:off x="6191250" y="190500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事务繁琐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内容 日程、文档和信息">
            <a:extLst>
              <a:ext uri="{FF2B5EF4-FFF2-40B4-BE49-F238E27FC236}">
                <a16:creationId xmlns:a16="http://schemas.microsoft.com/office/drawing/2014/main" id="{67D8F04F-99CE-4106-B2A7-1234B5C91ADC}"/>
              </a:ext>
            </a:extLst>
          </p:cNvPr>
          <p:cNvSpPr>
            <a:spLocks noGrp="1"/>
          </p:cNvSpPr>
          <p:nvPr/>
        </p:nvSpPr>
        <p:spPr>
          <a:xfrm>
            <a:off x="6191250" y="2333625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日程、文档和信息查询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需要在多个工具间切换</a:t>
            </a:r>
            <a:endParaRPr sz="2400" b="1" dirty="0"/>
          </a:p>
        </p:txBody>
      </p:sp>
      <p:sp>
        <p:nvSpPr>
          <p:cNvPr id="21" name="内容 自然输入">
            <a:extLst>
              <a:ext uri="{FF2B5EF4-FFF2-40B4-BE49-F238E27FC236}">
                <a16:creationId xmlns:a16="http://schemas.microsoft.com/office/drawing/2014/main" id="{8109F2D9-CA76-4BE3-85E1-F1FFEF5636BC}"/>
              </a:ext>
            </a:extLst>
          </p:cNvPr>
          <p:cNvSpPr>
            <a:spLocks noGrp="1"/>
          </p:cNvSpPr>
          <p:nvPr/>
        </p:nvSpPr>
        <p:spPr>
          <a:xfrm>
            <a:off x="619125" y="381000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自然输入</a:t>
            </a:r>
          </a:p>
        </p:txBody>
      </p:sp>
      <p:sp>
        <p:nvSpPr>
          <p:cNvPr id="22" name="内容 文字、语音和图片">
            <a:extLst>
              <a:ext uri="{FF2B5EF4-FFF2-40B4-BE49-F238E27FC236}">
                <a16:creationId xmlns:a16="http://schemas.microsoft.com/office/drawing/2014/main" id="{5C3E496F-05C4-482C-9301-04CBF525F3B8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4619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文字、语音和图片表达需求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同一对话承接连续问题</a:t>
            </a:r>
            <a:endParaRPr sz="2400" b="1" dirty="0"/>
          </a:p>
        </p:txBody>
      </p:sp>
      <p:sp>
        <p:nvSpPr>
          <p:cNvPr id="23" name="内容 从理解到行动">
            <a:extLst>
              <a:ext uri="{FF2B5EF4-FFF2-40B4-BE49-F238E27FC236}">
                <a16:creationId xmlns:a16="http://schemas.microsoft.com/office/drawing/2014/main" id="{ED8C4143-7B03-4C1A-B368-3FDFBB3E706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从理解到行动</a:t>
            </a:r>
          </a:p>
        </p:txBody>
      </p:sp>
      <p:sp>
        <p:nvSpPr>
          <p:cNvPr id="24" name="内容 结合个人资料生成">
            <a:extLst>
              <a:ext uri="{FF2B5EF4-FFF2-40B4-BE49-F238E27FC236}">
                <a16:creationId xmlns:a16="http://schemas.microsoft.com/office/drawing/2014/main" id="{51627E5D-0396-47F1-A55D-133007CBAE61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结合个人资料生成回答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确认后创建日程，按请求处理文档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EFD6AB9A-5F9E-5F59-51AB-3C8734130965}" type="slidenum">
              <a:rPr>
                <a:latin typeface="微软雅黑"/>
                <a:ea typeface="微软雅黑"/>
                <a:cs typeface="微软雅黑"/>
              </a:rPr>
              <a:t>4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统一助手入口与多模态交互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0934AAB-F7B1-4CA0-AD4A-FE2644961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083696"/>
            <a:ext cx="2047875" cy="450010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76571FA-68AA-400A-8318-76B4557A2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67000" y="1083696"/>
            <a:ext cx="2047875" cy="4500107"/>
          </a:xfrm>
          <a:prstGeom prst="rect">
            <a:avLst/>
          </a:prstGeom>
        </p:spPr>
      </p:pic>
      <p:sp>
        <p:nvSpPr>
          <p:cNvPr id="18" name="内容 助手首页">
            <a:extLst>
              <a:ext uri="{FF2B5EF4-FFF2-40B4-BE49-F238E27FC236}">
                <a16:creationId xmlns:a16="http://schemas.microsoft.com/office/drawing/2014/main" id="{E0CA6D4D-366F-49D0-818E-F886A9A13694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助手首页</a:t>
            </a:r>
          </a:p>
        </p:txBody>
      </p:sp>
      <p:sp>
        <p:nvSpPr>
          <p:cNvPr id="19" name="内容 功能导航">
            <a:extLst>
              <a:ext uri="{FF2B5EF4-FFF2-40B4-BE49-F238E27FC236}">
                <a16:creationId xmlns:a16="http://schemas.microsoft.com/office/drawing/2014/main" id="{493D1807-7276-4E27-BA13-B60FC3BDDFFD}"/>
              </a:ext>
            </a:extLst>
          </p:cNvPr>
          <p:cNvSpPr>
            <a:spLocks noGrp="1"/>
          </p:cNvSpPr>
          <p:nvPr/>
        </p:nvSpPr>
        <p:spPr>
          <a:xfrm>
            <a:off x="3095625" y="5715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功能导航</a:t>
            </a:r>
          </a:p>
        </p:txBody>
      </p:sp>
      <p:sp>
        <p:nvSpPr>
          <p:cNvPr id="20" name="内容 一个入口">
            <a:extLst>
              <a:ext uri="{FF2B5EF4-FFF2-40B4-BE49-F238E27FC236}">
                <a16:creationId xmlns:a16="http://schemas.microsoft.com/office/drawing/2014/main" id="{DFC90C01-546A-4CD1-9E56-EA470169B421}"/>
              </a:ext>
            </a:extLst>
          </p:cNvPr>
          <p:cNvSpPr>
            <a:spLocks noGrp="1"/>
          </p:cNvSpPr>
          <p:nvPr/>
        </p:nvSpPr>
        <p:spPr>
          <a:xfrm>
            <a:off x="5238750" y="114300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一个入口</a:t>
            </a:r>
          </a:p>
        </p:txBody>
      </p:sp>
      <p:sp>
        <p:nvSpPr>
          <p:cNvPr id="21" name="内容 对话、个人知识库">
            <a:extLst>
              <a:ext uri="{FF2B5EF4-FFF2-40B4-BE49-F238E27FC236}">
                <a16:creationId xmlns:a16="http://schemas.microsoft.com/office/drawing/2014/main" id="{DA9B1E08-383E-432E-8E65-A583E9763812}"/>
              </a:ext>
            </a:extLst>
          </p:cNvPr>
          <p:cNvSpPr>
            <a:spLocks noGrp="1"/>
          </p:cNvSpPr>
          <p:nvPr/>
        </p:nvSpPr>
        <p:spPr>
          <a:xfrm>
            <a:off x="5238750" y="1571625"/>
            <a:ext cx="60007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对话、个人知识库、日程和设置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通过同一应用组织</a:t>
            </a:r>
            <a:endParaRPr sz="2400" b="1" dirty="0"/>
          </a:p>
        </p:txBody>
      </p:sp>
      <p:sp>
        <p:nvSpPr>
          <p:cNvPr id="22" name="内容 多模态表达">
            <a:extLst>
              <a:ext uri="{FF2B5EF4-FFF2-40B4-BE49-F238E27FC236}">
                <a16:creationId xmlns:a16="http://schemas.microsoft.com/office/drawing/2014/main" id="{31A728B4-015F-4A36-A11E-16C22D7D2BA0}"/>
              </a:ext>
            </a:extLst>
          </p:cNvPr>
          <p:cNvSpPr>
            <a:spLocks noGrp="1"/>
          </p:cNvSpPr>
          <p:nvPr/>
        </p:nvSpPr>
        <p:spPr>
          <a:xfrm>
            <a:off x="5238750" y="2714625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多模态表达</a:t>
            </a:r>
          </a:p>
        </p:txBody>
      </p:sp>
      <p:sp>
        <p:nvSpPr>
          <p:cNvPr id="23" name="内容 文字、单图与普通">
            <a:extLst>
              <a:ext uri="{FF2B5EF4-FFF2-40B4-BE49-F238E27FC236}">
                <a16:creationId xmlns:a16="http://schemas.microsoft.com/office/drawing/2014/main" id="{7EDA9AA7-7782-415D-9FF9-C13CEBB1F01D}"/>
              </a:ext>
            </a:extLst>
          </p:cNvPr>
          <p:cNvSpPr>
            <a:spLocks noGrp="1"/>
          </p:cNvSpPr>
          <p:nvPr/>
        </p:nvSpPr>
        <p:spPr>
          <a:xfrm>
            <a:off x="5238750" y="3143250"/>
            <a:ext cx="6191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文字、单图与普通话语音可组合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用户先预览附件，再手动发送</a:t>
            </a:r>
            <a:endParaRPr sz="2400" b="1" dirty="0"/>
          </a:p>
        </p:txBody>
      </p:sp>
      <p:sp>
        <p:nvSpPr>
          <p:cNvPr id="24" name="内容 会话可继续">
            <a:extLst>
              <a:ext uri="{FF2B5EF4-FFF2-40B4-BE49-F238E27FC236}">
                <a16:creationId xmlns:a16="http://schemas.microsoft.com/office/drawing/2014/main" id="{4CE45FFA-0428-4893-B785-4887333424CF}"/>
              </a:ext>
            </a:extLst>
          </p:cNvPr>
          <p:cNvSpPr>
            <a:spLocks noGrp="1"/>
          </p:cNvSpPr>
          <p:nvPr/>
        </p:nvSpPr>
        <p:spPr>
          <a:xfrm>
            <a:off x="5238750" y="428625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会话可继续</a:t>
            </a:r>
          </a:p>
        </p:txBody>
      </p:sp>
      <p:sp>
        <p:nvSpPr>
          <p:cNvPr id="25" name="内容 本机保存普通对话">
            <a:extLst>
              <a:ext uri="{FF2B5EF4-FFF2-40B4-BE49-F238E27FC236}">
                <a16:creationId xmlns:a16="http://schemas.microsoft.com/office/drawing/2014/main" id="{F3C182B7-89C4-48DA-A0AE-AFDA85711446}"/>
              </a:ext>
            </a:extLst>
          </p:cNvPr>
          <p:cNvSpPr>
            <a:spLocks noGrp="1"/>
          </p:cNvSpPr>
          <p:nvPr/>
        </p:nvSpPr>
        <p:spPr>
          <a:xfrm>
            <a:off x="5238750" y="4714875"/>
            <a:ext cx="61912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本机保存普通对话与历史消息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随时新建、切换和继续会话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>
                <a:latin typeface="微软雅黑"/>
                <a:ea typeface="微软雅黑"/>
                <a:cs typeface="微软雅黑"/>
              </a:rPr>
              <a:t>5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个人知识库：让资料随时可查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284971A-3089-482B-BBE5-3C14ED435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078934"/>
            <a:ext cx="2047875" cy="450010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A4C0085-F773-4840-9C82-281089B08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19375" y="1078934"/>
            <a:ext cx="2105025" cy="4500107"/>
          </a:xfrm>
          <a:prstGeom prst="rect">
            <a:avLst/>
          </a:prstGeom>
        </p:spPr>
      </p:pic>
      <p:sp>
        <p:nvSpPr>
          <p:cNvPr id="18" name="内容 知识库首页">
            <a:extLst>
              <a:ext uri="{FF2B5EF4-FFF2-40B4-BE49-F238E27FC236}">
                <a16:creationId xmlns:a16="http://schemas.microsoft.com/office/drawing/2014/main" id="{8FEC7D11-79CF-40F8-A8C8-87B23F489DFC}"/>
              </a:ext>
            </a:extLst>
          </p:cNvPr>
          <p:cNvSpPr>
            <a:spLocks noGrp="1"/>
          </p:cNvSpPr>
          <p:nvPr/>
        </p:nvSpPr>
        <p:spPr>
          <a:xfrm>
            <a:off x="714375" y="57150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知识库首页</a:t>
            </a:r>
          </a:p>
        </p:txBody>
      </p:sp>
      <p:sp>
        <p:nvSpPr>
          <p:cNvPr id="19" name="内容 我的资料">
            <a:extLst>
              <a:ext uri="{FF2B5EF4-FFF2-40B4-BE49-F238E27FC236}">
                <a16:creationId xmlns:a16="http://schemas.microsoft.com/office/drawing/2014/main" id="{FBA10377-CD70-4DE8-AF53-FACDA24B0813}"/>
              </a:ext>
            </a:extLst>
          </p:cNvPr>
          <p:cNvSpPr>
            <a:spLocks noGrp="1"/>
          </p:cNvSpPr>
          <p:nvPr/>
        </p:nvSpPr>
        <p:spPr>
          <a:xfrm>
            <a:off x="3178849" y="57150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我的资料</a:t>
            </a:r>
            <a:endParaRPr sz="1425" b="0" dirty="0">
              <a:solidFill>
                <a:srgbClr val="5367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内容 统一管理个人资料">
            <a:extLst>
              <a:ext uri="{FF2B5EF4-FFF2-40B4-BE49-F238E27FC236}">
                <a16:creationId xmlns:a16="http://schemas.microsoft.com/office/drawing/2014/main" id="{D422A2B6-26C7-4E73-9ECE-24855544DC30}"/>
              </a:ext>
            </a:extLst>
          </p:cNvPr>
          <p:cNvSpPr>
            <a:spLocks noGrp="1"/>
          </p:cNvSpPr>
          <p:nvPr/>
        </p:nvSpPr>
        <p:spPr>
          <a:xfrm>
            <a:off x="5191125" y="1143000"/>
            <a:ext cx="628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统一管理个人资料</a:t>
            </a:r>
          </a:p>
        </p:txBody>
      </p:sp>
      <p:sp>
        <p:nvSpPr>
          <p:cNvPr id="21" name="内容 导入 TXT、M">
            <a:extLst>
              <a:ext uri="{FF2B5EF4-FFF2-40B4-BE49-F238E27FC236}">
                <a16:creationId xmlns:a16="http://schemas.microsoft.com/office/drawing/2014/main" id="{22A4731E-B958-4384-A667-B57B8BF35E5D}"/>
              </a:ext>
            </a:extLst>
          </p:cNvPr>
          <p:cNvSpPr>
            <a:spLocks noGrp="1"/>
          </p:cNvSpPr>
          <p:nvPr/>
        </p:nvSpPr>
        <p:spPr>
          <a:xfrm>
            <a:off x="5191124" y="1571625"/>
            <a:ext cx="67341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导入</a:t>
            </a:r>
            <a:r>
              <a:rPr sz="2400" b="1" dirty="0"/>
              <a:t> </a:t>
            </a:r>
            <a:r>
              <a:rPr sz="2400" b="1" dirty="0" err="1"/>
              <a:t>TXT、Markdown、PDF、图片和</a:t>
            </a:r>
            <a:r>
              <a:rPr sz="2400" b="1" dirty="0"/>
              <a:t> DOCX</a:t>
            </a:r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在本机查看资料与处理状态</a:t>
            </a:r>
            <a:endParaRPr sz="2400" b="1" dirty="0"/>
          </a:p>
        </p:txBody>
      </p:sp>
      <p:sp>
        <p:nvSpPr>
          <p:cNvPr id="22" name="内容 按内容检索">
            <a:extLst>
              <a:ext uri="{FF2B5EF4-FFF2-40B4-BE49-F238E27FC236}">
                <a16:creationId xmlns:a16="http://schemas.microsoft.com/office/drawing/2014/main" id="{53990EB7-DEDE-41A5-B95E-6456E4AF21DF}"/>
              </a:ext>
            </a:extLst>
          </p:cNvPr>
          <p:cNvSpPr>
            <a:spLocks noGrp="1"/>
          </p:cNvSpPr>
          <p:nvPr/>
        </p:nvSpPr>
        <p:spPr>
          <a:xfrm>
            <a:off x="5191125" y="2762250"/>
            <a:ext cx="628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dirty="0" err="1"/>
              <a:t>MinerU</a:t>
            </a:r>
            <a:r>
              <a:rPr lang="en-US" altLang="zh-CN" dirty="0"/>
              <a:t> </a:t>
            </a:r>
            <a:r>
              <a:rPr lang="zh-CN" altLang="en-US" dirty="0"/>
              <a:t>智能解析引擎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内容 从正文、图片文字">
            <a:extLst>
              <a:ext uri="{FF2B5EF4-FFF2-40B4-BE49-F238E27FC236}">
                <a16:creationId xmlns:a16="http://schemas.microsoft.com/office/drawing/2014/main" id="{C126073C-62CE-40B6-B44F-50054F301E80}"/>
              </a:ext>
            </a:extLst>
          </p:cNvPr>
          <p:cNvSpPr>
            <a:spLocks noGrp="1"/>
          </p:cNvSpPr>
          <p:nvPr/>
        </p:nvSpPr>
        <p:spPr>
          <a:xfrm>
            <a:off x="5191125" y="3190875"/>
            <a:ext cx="6286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 dirty="0"/>
              <a:t>智能解析多格式文件，处理复杂排版，内嵌公式与图片。</a:t>
            </a:r>
            <a:endParaRPr sz="2400" b="1" dirty="0"/>
          </a:p>
        </p:txBody>
      </p:sp>
      <p:sp>
        <p:nvSpPr>
          <p:cNvPr id="24" name="内容 按需用于对话">
            <a:extLst>
              <a:ext uri="{FF2B5EF4-FFF2-40B4-BE49-F238E27FC236}">
                <a16:creationId xmlns:a16="http://schemas.microsoft.com/office/drawing/2014/main" id="{0BA9C833-04B0-4F06-8F36-54192CCE435A}"/>
              </a:ext>
            </a:extLst>
          </p:cNvPr>
          <p:cNvSpPr>
            <a:spLocks noGrp="1"/>
          </p:cNvSpPr>
          <p:nvPr/>
        </p:nvSpPr>
        <p:spPr>
          <a:xfrm>
            <a:off x="5191125" y="4429125"/>
            <a:ext cx="628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175" b="1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按内容检索，</a:t>
            </a: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按需用于对话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内容 开启当前会话授权">
            <a:extLst>
              <a:ext uri="{FF2B5EF4-FFF2-40B4-BE49-F238E27FC236}">
                <a16:creationId xmlns:a16="http://schemas.microsoft.com/office/drawing/2014/main" id="{1F0598AA-1DB7-4B9C-80A1-A0CEF47EACD9}"/>
              </a:ext>
            </a:extLst>
          </p:cNvPr>
          <p:cNvSpPr>
            <a:spLocks noGrp="1"/>
          </p:cNvSpPr>
          <p:nvPr/>
        </p:nvSpPr>
        <p:spPr>
          <a:xfrm>
            <a:off x="5191124" y="4857750"/>
            <a:ext cx="65055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 dirty="0"/>
              <a:t>从已入库资料中查找，查询结果关联原始资料</a:t>
            </a:r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开启当前会话授权后</a:t>
            </a:r>
            <a:r>
              <a:rPr lang="zh-CN" altLang="en-US" sz="2400" b="1" dirty="0"/>
              <a:t>，</a:t>
            </a:r>
            <a:r>
              <a:rPr sz="2400" b="1" dirty="0" err="1"/>
              <a:t>助手</a:t>
            </a:r>
            <a:r>
              <a:rPr lang="zh-CN" altLang="en-US" sz="2400" b="1" dirty="0"/>
              <a:t>自主</a:t>
            </a:r>
            <a:r>
              <a:rPr sz="2400" b="1" dirty="0" err="1"/>
              <a:t>按需检索并展示来源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9333A6-D205-4C7A-BC87-7100250C5C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699F6F-4DFB-E38C-CD7A-F4D3856F1D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5067" y="171415"/>
            <a:ext cx="6766758" cy="446134"/>
          </a:xfrm>
        </p:spPr>
        <p:txBody>
          <a:bodyPr/>
          <a:lstStyle/>
          <a:p>
            <a:r>
              <a:rPr lang="zh-CN" altLang="en-US" dirty="0"/>
              <a:t>个人知识库：图片视觉理解和 </a:t>
            </a:r>
            <a:r>
              <a:rPr lang="en-US" altLang="zh-CN" dirty="0"/>
              <a:t>TAG </a:t>
            </a:r>
            <a:r>
              <a:rPr lang="zh-CN" altLang="en-US" dirty="0"/>
              <a:t>入库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E3F818-A665-CCDA-A981-EF83F55B6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21" y="911224"/>
            <a:ext cx="2389198" cy="53030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7AF1C7-87DB-B822-48AA-79025F74B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734" y="911224"/>
            <a:ext cx="2389198" cy="53030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116D93-C0A3-BFEB-8FA9-1DF8BC6E0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747" y="911224"/>
            <a:ext cx="2389199" cy="53030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D9B6750-041F-35B9-D484-448BA8006304}"/>
              </a:ext>
            </a:extLst>
          </p:cNvPr>
          <p:cNvSpPr txBox="1"/>
          <p:nvPr/>
        </p:nvSpPr>
        <p:spPr>
          <a:xfrm>
            <a:off x="7791450" y="1000125"/>
            <a:ext cx="2590800" cy="427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175" b="1" dirty="0">
                <a:solidFill>
                  <a:srgbClr val="08A8F6"/>
                </a:solidFill>
                <a:latin typeface="微软雅黑"/>
                <a:ea typeface="微软雅黑"/>
              </a:rPr>
              <a:t>AI </a:t>
            </a:r>
            <a:r>
              <a:rPr lang="zh-CN" altLang="en-US" sz="2175" b="1" dirty="0">
                <a:solidFill>
                  <a:srgbClr val="08A8F6"/>
                </a:solidFill>
                <a:latin typeface="微软雅黑"/>
                <a:ea typeface="微软雅黑"/>
              </a:rPr>
              <a:t>图片视觉理解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EA220F-AB22-C7C1-576F-ABFEAC6C227B}"/>
              </a:ext>
            </a:extLst>
          </p:cNvPr>
          <p:cNvSpPr txBox="1"/>
          <p:nvPr/>
        </p:nvSpPr>
        <p:spPr>
          <a:xfrm>
            <a:off x="7791448" y="1542655"/>
            <a:ext cx="4109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63647"/>
                </a:solidFill>
                <a:latin typeface="微软雅黑"/>
                <a:ea typeface="微软雅黑"/>
              </a:rPr>
              <a:t>开启图片理解服务后，上传图片，内嵌图片都进入自动视觉理解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84C51F-EF23-F67D-B8D0-37621D47573D}"/>
              </a:ext>
            </a:extLst>
          </p:cNvPr>
          <p:cNvSpPr txBox="1"/>
          <p:nvPr/>
        </p:nvSpPr>
        <p:spPr>
          <a:xfrm>
            <a:off x="7791448" y="2978039"/>
            <a:ext cx="2389199" cy="427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175" b="1" dirty="0">
                <a:solidFill>
                  <a:srgbClr val="08A8F6"/>
                </a:solidFill>
                <a:latin typeface="微软雅黑"/>
                <a:ea typeface="微软雅黑"/>
              </a:rPr>
              <a:t>描述和 </a:t>
            </a:r>
            <a:r>
              <a:rPr lang="en-US" altLang="zh-CN" sz="2175" b="1" dirty="0">
                <a:solidFill>
                  <a:srgbClr val="08A8F6"/>
                </a:solidFill>
                <a:latin typeface="微软雅黑"/>
                <a:ea typeface="微软雅黑"/>
              </a:rPr>
              <a:t>TAG </a:t>
            </a:r>
            <a:r>
              <a:rPr lang="zh-CN" altLang="en-US" sz="2175" b="1" dirty="0">
                <a:solidFill>
                  <a:srgbClr val="08A8F6"/>
                </a:solidFill>
                <a:latin typeface="微软雅黑"/>
                <a:ea typeface="微软雅黑"/>
              </a:rPr>
              <a:t>入库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302B18-1902-324A-C81C-AFE334A62D64}"/>
              </a:ext>
            </a:extLst>
          </p:cNvPr>
          <p:cNvSpPr txBox="1"/>
          <p:nvPr/>
        </p:nvSpPr>
        <p:spPr>
          <a:xfrm>
            <a:off x="7791448" y="3562745"/>
            <a:ext cx="41091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263647"/>
                </a:solidFill>
                <a:latin typeface="微软雅黑"/>
                <a:ea typeface="微软雅黑"/>
              </a:rPr>
              <a:t>视觉模型通过对图片进行文字描述和关键词 </a:t>
            </a:r>
            <a:r>
              <a:rPr lang="en-US" altLang="zh-CN" sz="2400" b="1" dirty="0">
                <a:solidFill>
                  <a:srgbClr val="263647"/>
                </a:solidFill>
                <a:latin typeface="微软雅黑"/>
                <a:ea typeface="微软雅黑"/>
              </a:rPr>
              <a:t>TAG </a:t>
            </a:r>
            <a:r>
              <a:rPr lang="zh-CN" altLang="en-US" sz="2400" b="1" dirty="0">
                <a:solidFill>
                  <a:srgbClr val="263647"/>
                </a:solidFill>
                <a:latin typeface="微软雅黑"/>
                <a:ea typeface="微软雅黑"/>
              </a:rPr>
              <a:t>提取，将文字关联内容一并入库，并绑定原图。搜索时会按语义查找从而查找原图，实现图片的“入库</a:t>
            </a:r>
            <a:r>
              <a:rPr lang="zh-CN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73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8C630A04-5A25-9E0C-9436-126091DB86B3}" type="slidenum">
              <a:rPr>
                <a:latin typeface="微软雅黑"/>
                <a:ea typeface="微软雅黑"/>
                <a:cs typeface="微软雅黑"/>
              </a:rPr>
              <a:t>7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资料管理：从文件到可检索内容</a:t>
            </a:r>
            <a:endParaRPr/>
          </a:p>
        </p:txBody>
      </p:sp>
      <p:sp>
        <p:nvSpPr>
          <p:cNvPr id="17" name="内容 DOCX 资料详">
            <a:extLst>
              <a:ext uri="{FF2B5EF4-FFF2-40B4-BE49-F238E27FC236}">
                <a16:creationId xmlns:a16="http://schemas.microsoft.com/office/drawing/2014/main" id="{CB03DA0F-BA5A-4E01-BBE0-463EAB5D6FBD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4573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DOCX </a:t>
            </a:r>
            <a:r>
              <a:rPr sz="1425" b="0" dirty="0" err="1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资料详情</a:t>
            </a:r>
            <a:endParaRPr sz="1425" b="0" dirty="0">
              <a:solidFill>
                <a:srgbClr val="5367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内容 资料导入后，休比">
            <a:extLst>
              <a:ext uri="{FF2B5EF4-FFF2-40B4-BE49-F238E27FC236}">
                <a16:creationId xmlns:a16="http://schemas.microsoft.com/office/drawing/2014/main" id="{F7E8E4EA-BFB4-4A7E-B895-D8CBC099E869}"/>
              </a:ext>
            </a:extLst>
          </p:cNvPr>
          <p:cNvSpPr>
            <a:spLocks noGrp="1"/>
          </p:cNvSpPr>
          <p:nvPr/>
        </p:nvSpPr>
        <p:spPr>
          <a:xfrm>
            <a:off x="5276850" y="1143000"/>
            <a:ext cx="5966068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dirty="0" err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资料导入后，休比整理正文、图片和处理状态</a:t>
            </a:r>
            <a:r>
              <a:rPr sz="2100" b="1" dirty="0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>
              <a:defRPr sz="21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 dirty="0" err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用户可在资料详情中阅读与核对</a:t>
            </a:r>
            <a:r>
              <a:rPr sz="2100" b="1" dirty="0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9" name="内容 阅读">
            <a:extLst>
              <a:ext uri="{FF2B5EF4-FFF2-40B4-BE49-F238E27FC236}">
                <a16:creationId xmlns:a16="http://schemas.microsoft.com/office/drawing/2014/main" id="{5FF653A6-EE82-49EE-A55D-A3FD0112008C}"/>
              </a:ext>
            </a:extLst>
          </p:cNvPr>
          <p:cNvSpPr>
            <a:spLocks noGrp="1"/>
          </p:cNvSpPr>
          <p:nvPr/>
        </p:nvSpPr>
        <p:spPr>
          <a:xfrm>
            <a:off x="5276850" y="23241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阅读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内容 查看正文预览&#10;进">
            <a:extLst>
              <a:ext uri="{FF2B5EF4-FFF2-40B4-BE49-F238E27FC236}">
                <a16:creationId xmlns:a16="http://schemas.microsoft.com/office/drawing/2014/main" id="{81A0E6C9-5EE1-4929-AE6A-C024D65836CD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查看正文预览</a:t>
            </a:r>
            <a:endParaRPr sz="2400" b="1" dirty="0"/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进入全文阅读</a:t>
            </a:r>
            <a:endParaRPr sz="2400" b="1" dirty="0"/>
          </a:p>
        </p:txBody>
      </p:sp>
      <p:sp>
        <p:nvSpPr>
          <p:cNvPr id="21" name="内容 图片">
            <a:extLst>
              <a:ext uri="{FF2B5EF4-FFF2-40B4-BE49-F238E27FC236}">
                <a16:creationId xmlns:a16="http://schemas.microsoft.com/office/drawing/2014/main" id="{2A648106-D8FA-4F71-AB5B-6486F43E3A33}"/>
              </a:ext>
            </a:extLst>
          </p:cNvPr>
          <p:cNvSpPr>
            <a:spLocks noGrp="1"/>
          </p:cNvSpPr>
          <p:nvPr/>
        </p:nvSpPr>
        <p:spPr>
          <a:xfrm>
            <a:off x="9277350" y="232410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图片</a:t>
            </a:r>
          </a:p>
        </p:txBody>
      </p:sp>
      <p:sp>
        <p:nvSpPr>
          <p:cNvPr id="22" name="内容 查看文件中的图片">
            <a:extLst>
              <a:ext uri="{FF2B5EF4-FFF2-40B4-BE49-F238E27FC236}">
                <a16:creationId xmlns:a16="http://schemas.microsoft.com/office/drawing/2014/main" id="{47B40FC8-1243-4D26-B51B-DC421C77BC27}"/>
              </a:ext>
            </a:extLst>
          </p:cNvPr>
          <p:cNvSpPr>
            <a:spLocks noGrp="1"/>
          </p:cNvSpPr>
          <p:nvPr/>
        </p:nvSpPr>
        <p:spPr>
          <a:xfrm>
            <a:off x="9277350" y="2724150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查看文件中的图片</a:t>
            </a:r>
            <a:endParaRPr sz="2400" b="1" dirty="0"/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及相关描述与标签</a:t>
            </a:r>
            <a:endParaRPr sz="2400" b="1" dirty="0"/>
          </a:p>
        </p:txBody>
      </p:sp>
      <p:sp>
        <p:nvSpPr>
          <p:cNvPr id="23" name="内容 处理进度">
            <a:extLst>
              <a:ext uri="{FF2B5EF4-FFF2-40B4-BE49-F238E27FC236}">
                <a16:creationId xmlns:a16="http://schemas.microsoft.com/office/drawing/2014/main" id="{FD1804EF-6769-41FD-B055-3B24E0926D8B}"/>
              </a:ext>
            </a:extLst>
          </p:cNvPr>
          <p:cNvSpPr>
            <a:spLocks noGrp="1"/>
          </p:cNvSpPr>
          <p:nvPr/>
        </p:nvSpPr>
        <p:spPr>
          <a:xfrm>
            <a:off x="5276850" y="399097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处理进度</a:t>
            </a:r>
          </a:p>
        </p:txBody>
      </p:sp>
      <p:sp>
        <p:nvSpPr>
          <p:cNvPr id="24" name="内容 展示入库与处理状">
            <a:extLst>
              <a:ext uri="{FF2B5EF4-FFF2-40B4-BE49-F238E27FC236}">
                <a16:creationId xmlns:a16="http://schemas.microsoft.com/office/drawing/2014/main" id="{DD65FEB2-22B6-4BF5-B5CB-7AD7BFBF7088}"/>
              </a:ext>
            </a:extLst>
          </p:cNvPr>
          <p:cNvSpPr>
            <a:spLocks noGrp="1"/>
          </p:cNvSpPr>
          <p:nvPr/>
        </p:nvSpPr>
        <p:spPr>
          <a:xfrm>
            <a:off x="5276850" y="4391025"/>
            <a:ext cx="32861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展示入库与处理状态</a:t>
            </a:r>
            <a:endParaRPr sz="2400" b="1" dirty="0"/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未完成任务可按需重试</a:t>
            </a:r>
            <a:endParaRPr sz="2400" b="1" dirty="0"/>
          </a:p>
        </p:txBody>
      </p:sp>
      <p:sp>
        <p:nvSpPr>
          <p:cNvPr id="25" name="内容 检索依据">
            <a:extLst>
              <a:ext uri="{FF2B5EF4-FFF2-40B4-BE49-F238E27FC236}">
                <a16:creationId xmlns:a16="http://schemas.microsoft.com/office/drawing/2014/main" id="{53900381-3FFD-4BB6-84F5-1E9410B33548}"/>
              </a:ext>
            </a:extLst>
          </p:cNvPr>
          <p:cNvSpPr>
            <a:spLocks noGrp="1"/>
          </p:cNvSpPr>
          <p:nvPr/>
        </p:nvSpPr>
        <p:spPr>
          <a:xfrm>
            <a:off x="9277350" y="399097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检索依据</a:t>
            </a:r>
          </a:p>
        </p:txBody>
      </p:sp>
      <p:sp>
        <p:nvSpPr>
          <p:cNvPr id="26" name="内容 查询使用当前资料">
            <a:extLst>
              <a:ext uri="{FF2B5EF4-FFF2-40B4-BE49-F238E27FC236}">
                <a16:creationId xmlns:a16="http://schemas.microsoft.com/office/drawing/2014/main" id="{29423B13-522B-4469-8E0C-7B3BF05AE0AD}"/>
              </a:ext>
            </a:extLst>
          </p:cNvPr>
          <p:cNvSpPr>
            <a:spLocks noGrp="1"/>
          </p:cNvSpPr>
          <p:nvPr/>
        </p:nvSpPr>
        <p:spPr>
          <a:xfrm>
            <a:off x="9277350" y="4391025"/>
            <a:ext cx="3429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查询使用当前资料</a:t>
            </a:r>
            <a:endParaRPr sz="2400" b="1" dirty="0"/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结果保留来源线索</a:t>
            </a:r>
            <a:endParaRPr sz="2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A9B13B-5293-3C73-8B5B-BBFE893A3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013" y="1048699"/>
            <a:ext cx="2286001" cy="49053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146122-507E-FF1B-6368-0C987B798A4D}"/>
              </a:ext>
            </a:extLst>
          </p:cNvPr>
          <p:cNvSpPr txBox="1"/>
          <p:nvPr/>
        </p:nvSpPr>
        <p:spPr>
          <a:xfrm>
            <a:off x="3105150" y="5999400"/>
            <a:ext cx="2009775" cy="31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25" dirty="0">
                <a:solidFill>
                  <a:srgbClr val="536778"/>
                </a:solidFill>
                <a:latin typeface="微软雅黑"/>
                <a:ea typeface="微软雅黑"/>
              </a:rPr>
              <a:t>PDF </a:t>
            </a:r>
            <a:r>
              <a:rPr lang="zh-CN" altLang="en-US" sz="1425" dirty="0">
                <a:solidFill>
                  <a:srgbClr val="536778"/>
                </a:solidFill>
                <a:latin typeface="微软雅黑"/>
                <a:ea typeface="微软雅黑"/>
              </a:rPr>
              <a:t>原页预览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2FEF1C8-3C3B-D63C-B3DD-CB82A4582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32" y="1048699"/>
            <a:ext cx="2286001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>
                <a:latin typeface="微软雅黑"/>
                <a:ea typeface="微软雅黑"/>
                <a:cs typeface="微软雅黑"/>
              </a:rPr>
              <a:t>8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日程安排：从想法到确认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3960899-AF13-44A3-9CBE-F86F6EA75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083696"/>
            <a:ext cx="2047875" cy="450010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A7D47E8-9818-4FC2-87BB-921B84CCB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67000" y="1083696"/>
            <a:ext cx="2047875" cy="4500107"/>
          </a:xfrm>
          <a:prstGeom prst="rect">
            <a:avLst/>
          </a:prstGeom>
        </p:spPr>
      </p:pic>
      <p:sp>
        <p:nvSpPr>
          <p:cNvPr id="18" name="内容 日程工作台">
            <a:extLst>
              <a:ext uri="{FF2B5EF4-FFF2-40B4-BE49-F238E27FC236}">
                <a16:creationId xmlns:a16="http://schemas.microsoft.com/office/drawing/2014/main" id="{586385B7-A7B4-44A8-9665-C2115CEFF881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日程工作台</a:t>
            </a:r>
          </a:p>
        </p:txBody>
      </p:sp>
      <p:sp>
        <p:nvSpPr>
          <p:cNvPr id="19" name="内容 新建日程">
            <a:extLst>
              <a:ext uri="{FF2B5EF4-FFF2-40B4-BE49-F238E27FC236}">
                <a16:creationId xmlns:a16="http://schemas.microsoft.com/office/drawing/2014/main" id="{2745EAB3-C54B-4277-A2D8-A3DA11611952}"/>
              </a:ext>
            </a:extLst>
          </p:cNvPr>
          <p:cNvSpPr>
            <a:spLocks noGrp="1"/>
          </p:cNvSpPr>
          <p:nvPr/>
        </p:nvSpPr>
        <p:spPr>
          <a:xfrm>
            <a:off x="3095625" y="5715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新建日程</a:t>
            </a:r>
          </a:p>
        </p:txBody>
      </p:sp>
      <p:sp>
        <p:nvSpPr>
          <p:cNvPr id="20" name="内容 先整理，再确认">
            <a:extLst>
              <a:ext uri="{FF2B5EF4-FFF2-40B4-BE49-F238E27FC236}">
                <a16:creationId xmlns:a16="http://schemas.microsoft.com/office/drawing/2014/main" id="{17327E2D-F675-4154-88DB-236C696AF7A4}"/>
              </a:ext>
            </a:extLst>
          </p:cNvPr>
          <p:cNvSpPr>
            <a:spLocks noGrp="1"/>
          </p:cNvSpPr>
          <p:nvPr/>
        </p:nvSpPr>
        <p:spPr>
          <a:xfrm>
            <a:off x="5238750" y="11430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先整理，再确认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内容 助手可提出草稿，">
            <a:extLst>
              <a:ext uri="{FF2B5EF4-FFF2-40B4-BE49-F238E27FC236}">
                <a16:creationId xmlns:a16="http://schemas.microsoft.com/office/drawing/2014/main" id="{B8686D83-DE40-4C54-8D90-6476EFBFDED2}"/>
              </a:ext>
            </a:extLst>
          </p:cNvPr>
          <p:cNvSpPr>
            <a:spLocks noGrp="1"/>
          </p:cNvSpPr>
          <p:nvPr/>
        </p:nvSpPr>
        <p:spPr>
          <a:xfrm>
            <a:off x="5238750" y="1571625"/>
            <a:ext cx="619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助手可提出草稿，也可手动填写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用户核对标题、时间和提醒</a:t>
            </a:r>
            <a:endParaRPr sz="2400" b="1" dirty="0"/>
          </a:p>
        </p:txBody>
      </p:sp>
      <p:sp>
        <p:nvSpPr>
          <p:cNvPr id="22" name="内容 连接系统日历">
            <a:extLst>
              <a:ext uri="{FF2B5EF4-FFF2-40B4-BE49-F238E27FC236}">
                <a16:creationId xmlns:a16="http://schemas.microsoft.com/office/drawing/2014/main" id="{9FAA9D39-AAC7-48F0-BC9D-FBDD2C89001D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连接系统日历</a:t>
            </a:r>
          </a:p>
        </p:txBody>
      </p:sp>
      <p:sp>
        <p:nvSpPr>
          <p:cNvPr id="23" name="内容 确认后写入休比专">
            <a:extLst>
              <a:ext uri="{FF2B5EF4-FFF2-40B4-BE49-F238E27FC236}">
                <a16:creationId xmlns:a16="http://schemas.microsoft.com/office/drawing/2014/main" id="{DDBED6F9-1DCA-465F-B872-B02E93E10FC8}"/>
              </a:ext>
            </a:extLst>
          </p:cNvPr>
          <p:cNvSpPr>
            <a:spLocks noGrp="1"/>
          </p:cNvSpPr>
          <p:nvPr/>
        </p:nvSpPr>
        <p:spPr>
          <a:xfrm>
            <a:off x="5238750" y="3286125"/>
            <a:ext cx="619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确认后写入休比专用日历</a:t>
            </a:r>
            <a:endParaRPr sz="2400" b="1" dirty="0"/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创建结果和提醒状态分别反馈</a:t>
            </a:r>
            <a:endParaRPr sz="2400" b="1" dirty="0"/>
          </a:p>
        </p:txBody>
      </p:sp>
      <p:sp>
        <p:nvSpPr>
          <p:cNvPr id="24" name="内容 查看与核查">
            <a:extLst>
              <a:ext uri="{FF2B5EF4-FFF2-40B4-BE49-F238E27FC236}">
                <a16:creationId xmlns:a16="http://schemas.microsoft.com/office/drawing/2014/main" id="{D546FEA2-0C7B-4700-A291-6A7CFD618C9D}"/>
              </a:ext>
            </a:extLst>
          </p:cNvPr>
          <p:cNvSpPr>
            <a:spLocks noGrp="1"/>
          </p:cNvSpPr>
          <p:nvPr/>
        </p:nvSpPr>
        <p:spPr>
          <a:xfrm>
            <a:off x="5238750" y="457200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查看与核查</a:t>
            </a:r>
          </a:p>
        </p:txBody>
      </p:sp>
      <p:sp>
        <p:nvSpPr>
          <p:cNvPr id="25" name="内容 工作台集中查看日">
            <a:extLst>
              <a:ext uri="{FF2B5EF4-FFF2-40B4-BE49-F238E27FC236}">
                <a16:creationId xmlns:a16="http://schemas.microsoft.com/office/drawing/2014/main" id="{EAEC8091-CE7F-4050-9CCF-730F9AD0028F}"/>
              </a:ext>
            </a:extLst>
          </p:cNvPr>
          <p:cNvSpPr>
            <a:spLocks noGrp="1"/>
          </p:cNvSpPr>
          <p:nvPr/>
        </p:nvSpPr>
        <p:spPr>
          <a:xfrm>
            <a:off x="5238750" y="500062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工作台集中查看日程记录</a:t>
            </a:r>
            <a:endParaRPr sz="2400" b="1" dirty="0"/>
          </a:p>
          <a:p>
            <a: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对已创建事项按需再次核查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>
                <a:latin typeface="微软雅黑"/>
                <a:ea typeface="微软雅黑"/>
                <a:cs typeface="微软雅黑"/>
              </a:rPr>
              <a:t>9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平板横屏：常驻侧栏与宽屏内容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38749F0-115C-46A6-B08B-A757636C4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5763" y="1238250"/>
            <a:ext cx="7229475" cy="4819650"/>
          </a:xfrm>
          <a:prstGeom prst="rect">
            <a:avLst/>
          </a:prstGeom>
        </p:spPr>
      </p:pic>
      <p:sp>
        <p:nvSpPr>
          <p:cNvPr id="17" name="内容 横屏充分利用宽度">
            <a:extLst>
              <a:ext uri="{FF2B5EF4-FFF2-40B4-BE49-F238E27FC236}">
                <a16:creationId xmlns:a16="http://schemas.microsoft.com/office/drawing/2014/main" id="{A064D275-4B13-4845-94D8-B99C12C20B88}"/>
              </a:ext>
            </a:extLst>
          </p:cNvPr>
          <p:cNvSpPr>
            <a:spLocks noGrp="1"/>
          </p:cNvSpPr>
          <p:nvPr/>
        </p:nvSpPr>
        <p:spPr>
          <a:xfrm>
            <a:off x="7953375" y="1333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横屏充分利用宽度</a:t>
            </a:r>
          </a:p>
        </p:txBody>
      </p:sp>
      <p:sp>
        <p:nvSpPr>
          <p:cNvPr id="18" name="内容 常驻侧栏保留四个">
            <a:extLst>
              <a:ext uri="{FF2B5EF4-FFF2-40B4-BE49-F238E27FC236}">
                <a16:creationId xmlns:a16="http://schemas.microsoft.com/office/drawing/2014/main" id="{49D1F529-C31A-4001-98BA-9B7955EB86F5}"/>
              </a:ext>
            </a:extLst>
          </p:cNvPr>
          <p:cNvSpPr>
            <a:spLocks noGrp="1"/>
          </p:cNvSpPr>
          <p:nvPr/>
        </p:nvSpPr>
        <p:spPr>
          <a:xfrm>
            <a:off x="7953375" y="1762125"/>
            <a:ext cx="36671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常驻侧栏保留四个功能入口</a:t>
            </a:r>
            <a:endParaRPr sz="2400" b="1" dirty="0"/>
          </a:p>
          <a:p>
            <a: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内容区集中展示检索与资料</a:t>
            </a:r>
            <a:endParaRPr sz="2400" b="1" dirty="0"/>
          </a:p>
        </p:txBody>
      </p:sp>
      <p:sp>
        <p:nvSpPr>
          <p:cNvPr id="19" name="内容 导航与内容并列">
            <a:extLst>
              <a:ext uri="{FF2B5EF4-FFF2-40B4-BE49-F238E27FC236}">
                <a16:creationId xmlns:a16="http://schemas.microsoft.com/office/drawing/2014/main" id="{1E9BE038-815C-43E1-9A3D-C713E1B89EF9}"/>
              </a:ext>
            </a:extLst>
          </p:cNvPr>
          <p:cNvSpPr>
            <a:spLocks noGrp="1"/>
          </p:cNvSpPr>
          <p:nvPr/>
        </p:nvSpPr>
        <p:spPr>
          <a:xfrm>
            <a:off x="7953375" y="3238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导航与内容并列</a:t>
            </a:r>
          </a:p>
        </p:txBody>
      </p:sp>
      <p:sp>
        <p:nvSpPr>
          <p:cNvPr id="20" name="内容 用户可直接切换页">
            <a:extLst>
              <a:ext uri="{FF2B5EF4-FFF2-40B4-BE49-F238E27FC236}">
                <a16:creationId xmlns:a16="http://schemas.microsoft.com/office/drawing/2014/main" id="{3ED187C8-064F-4E93-839D-629E1CEB0054}"/>
              </a:ext>
            </a:extLst>
          </p:cNvPr>
          <p:cNvSpPr>
            <a:spLocks noGrp="1"/>
          </p:cNvSpPr>
          <p:nvPr/>
        </p:nvSpPr>
        <p:spPr>
          <a:xfrm>
            <a:off x="7953375" y="3667125"/>
            <a:ext cx="36671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用户可直接切换页面</a:t>
            </a:r>
            <a:endParaRPr sz="2400" b="1" dirty="0"/>
          </a:p>
          <a:p>
            <a: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资料列表和对话入口保持可见</a:t>
            </a:r>
            <a:endParaRPr sz="2400" b="1" dirty="0"/>
          </a:p>
        </p:txBody>
      </p:sp>
      <p:sp>
        <p:nvSpPr>
          <p:cNvPr id="21" name="内容 ShuviTab">
            <a:extLst>
              <a:ext uri="{FF2B5EF4-FFF2-40B4-BE49-F238E27FC236}">
                <a16:creationId xmlns:a16="http://schemas.microsoft.com/office/drawing/2014/main" id="{F3C4AF6A-5C52-4979-AEDC-1D61D57B53A0}"/>
              </a:ext>
            </a:extLst>
          </p:cNvPr>
          <p:cNvSpPr>
            <a:spLocks noGrp="1"/>
          </p:cNvSpPr>
          <p:nvPr/>
        </p:nvSpPr>
        <p:spPr>
          <a:xfrm>
            <a:off x="3178849" y="6213475"/>
            <a:ext cx="3571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7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dirty="0"/>
              <a:t>平板横屏</a:t>
            </a:r>
            <a:r>
              <a:rPr sz="1275" b="0" dirty="0" err="1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模拟器截图</a:t>
            </a:r>
            <a:endParaRPr sz="1275" b="0" dirty="0">
              <a:solidFill>
                <a:srgbClr val="5367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>
                <a:latin typeface="微软雅黑"/>
                <a:ea typeface="微软雅黑"/>
                <a:cs typeface="微软雅黑"/>
              </a:rPr>
              <a:t>10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平板竖屏：布局重排与操作连续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D68AD84-845E-4D0F-91A5-C1DE22E30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4188" y="1066800"/>
            <a:ext cx="3270250" cy="4905375"/>
          </a:xfrm>
          <a:prstGeom prst="rect">
            <a:avLst/>
          </a:prstGeom>
        </p:spPr>
      </p:pic>
      <p:sp>
        <p:nvSpPr>
          <p:cNvPr id="17" name="内容 竖屏保持同一功能">
            <a:extLst>
              <a:ext uri="{FF2B5EF4-FFF2-40B4-BE49-F238E27FC236}">
                <a16:creationId xmlns:a16="http://schemas.microsoft.com/office/drawing/2014/main" id="{0545CB3E-4B27-4D38-824B-361CBE5B2B97}"/>
              </a:ext>
            </a:extLst>
          </p:cNvPr>
          <p:cNvSpPr>
            <a:spLocks noGrp="1"/>
          </p:cNvSpPr>
          <p:nvPr/>
        </p:nvSpPr>
        <p:spPr>
          <a:xfrm>
            <a:off x="4286250" y="1190625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竖屏保持同一功能</a:t>
            </a:r>
          </a:p>
        </p:txBody>
      </p:sp>
      <p:sp>
        <p:nvSpPr>
          <p:cNvPr id="18" name="内容 使用同一应用和业">
            <a:extLst>
              <a:ext uri="{FF2B5EF4-FFF2-40B4-BE49-F238E27FC236}">
                <a16:creationId xmlns:a16="http://schemas.microsoft.com/office/drawing/2014/main" id="{BC03F619-07A4-40EE-8BC5-5E608645281D}"/>
              </a:ext>
            </a:extLst>
          </p:cNvPr>
          <p:cNvSpPr>
            <a:spLocks noGrp="1"/>
          </p:cNvSpPr>
          <p:nvPr/>
        </p:nvSpPr>
        <p:spPr>
          <a:xfrm>
            <a:off x="4286250" y="1619250"/>
            <a:ext cx="685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使用同一应用和业务服务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知识库、日程与助手入口保持一致</a:t>
            </a:r>
            <a:endParaRPr sz="2400" b="1" dirty="0"/>
          </a:p>
        </p:txBody>
      </p:sp>
      <p:sp>
        <p:nvSpPr>
          <p:cNvPr id="19" name="内容 根据窗口宽度重排">
            <a:extLst>
              <a:ext uri="{FF2B5EF4-FFF2-40B4-BE49-F238E27FC236}">
                <a16:creationId xmlns:a16="http://schemas.microsoft.com/office/drawing/2014/main" id="{1B507AED-9067-4AD3-A6EF-3EC65446E1E9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根据窗口宽度重排</a:t>
            </a:r>
          </a:p>
        </p:txBody>
      </p:sp>
      <p:sp>
        <p:nvSpPr>
          <p:cNvPr id="20" name="内容 达到 840 v">
            <a:extLst>
              <a:ext uri="{FF2B5EF4-FFF2-40B4-BE49-F238E27FC236}">
                <a16:creationId xmlns:a16="http://schemas.microsoft.com/office/drawing/2014/main" id="{6188A054-98ED-4D5F-A642-8E02BCC1DAA9}"/>
              </a:ext>
            </a:extLst>
          </p:cNvPr>
          <p:cNvSpPr>
            <a:spLocks noGrp="1"/>
          </p:cNvSpPr>
          <p:nvPr/>
        </p:nvSpPr>
        <p:spPr>
          <a:xfrm>
            <a:off x="4286250" y="3209925"/>
            <a:ext cx="685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达到</a:t>
            </a:r>
            <a:r>
              <a:rPr sz="2400" b="1" dirty="0"/>
              <a:t> 840 </a:t>
            </a:r>
            <a:r>
              <a:rPr sz="2400" b="1" dirty="0" err="1"/>
              <a:t>vp</a:t>
            </a:r>
            <a:r>
              <a:rPr sz="2400" b="1" dirty="0"/>
              <a:t> </a:t>
            </a:r>
            <a:r>
              <a:rPr sz="2400" b="1" dirty="0" err="1"/>
              <a:t>使用常驻侧栏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较窄窗口切换为抽屉导航</a:t>
            </a:r>
            <a:endParaRPr sz="2400" b="1" dirty="0"/>
          </a:p>
        </p:txBody>
      </p:sp>
      <p:sp>
        <p:nvSpPr>
          <p:cNvPr id="21" name="内容 切换方向延续当前">
            <a:extLst>
              <a:ext uri="{FF2B5EF4-FFF2-40B4-BE49-F238E27FC236}">
                <a16:creationId xmlns:a16="http://schemas.microsoft.com/office/drawing/2014/main" id="{A1DCA21F-452F-42BE-A23E-F7C52921F678}"/>
              </a:ext>
            </a:extLst>
          </p:cNvPr>
          <p:cNvSpPr>
            <a:spLocks noGrp="1"/>
          </p:cNvSpPr>
          <p:nvPr/>
        </p:nvSpPr>
        <p:spPr>
          <a:xfrm>
            <a:off x="4286250" y="4429125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切换方向延续当前状态</a:t>
            </a:r>
          </a:p>
        </p:txBody>
      </p:sp>
      <p:sp>
        <p:nvSpPr>
          <p:cNvPr id="22" name="内容 页面调整布局，保">
            <a:extLst>
              <a:ext uri="{FF2B5EF4-FFF2-40B4-BE49-F238E27FC236}">
                <a16:creationId xmlns:a16="http://schemas.microsoft.com/office/drawing/2014/main" id="{C771E9C8-E444-4F6D-8B4F-78AEB3FF067B}"/>
              </a:ext>
            </a:extLst>
          </p:cNvPr>
          <p:cNvSpPr>
            <a:spLocks noGrp="1"/>
          </p:cNvSpPr>
          <p:nvPr/>
        </p:nvSpPr>
        <p:spPr>
          <a:xfrm>
            <a:off x="4286250" y="4857750"/>
            <a:ext cx="6858000" cy="952500"/>
          </a:xfrm>
          <a:prstGeom prst="rect">
            <a:avLst/>
          </a:prstGeom>
        </p:spPr>
        <p:txBody>
          <a:bodyPr wrap="square" lIns="0" tIns="0" rIns="0" bIns="0" anchor="t"/>
          <a:lstStyle>
            <a:def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页面调整布局，保留会话和草稿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/>
              <a:t>PDF</a:t>
            </a:r>
            <a:r>
              <a:rPr sz="1950" b="0" dirty="0">
                <a:solidFill>
                  <a:srgbClr val="26364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dirty="0" err="1"/>
              <a:t>预览覆盖可用窗口</a:t>
            </a:r>
            <a:endParaRPr sz="2400" b="1" dirty="0"/>
          </a:p>
        </p:txBody>
      </p:sp>
      <p:sp>
        <p:nvSpPr>
          <p:cNvPr id="23" name="内容 ShuviTab">
            <a:extLst>
              <a:ext uri="{FF2B5EF4-FFF2-40B4-BE49-F238E27FC236}">
                <a16:creationId xmlns:a16="http://schemas.microsoft.com/office/drawing/2014/main" id="{6C5E4D5D-0217-4900-9ADA-9A2796C3460E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425" b="0" dirty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平板</a:t>
            </a:r>
            <a:r>
              <a:rPr sz="1425" b="0" dirty="0" err="1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模拟器竖屏截图</a:t>
            </a:r>
            <a:endParaRPr sz="1425" b="0" dirty="0">
              <a:solidFill>
                <a:srgbClr val="53677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>
                <a:latin typeface="微软雅黑"/>
                <a:ea typeface="微软雅黑"/>
                <a:cs typeface="微软雅黑"/>
              </a:rPr>
              <a:t>11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系统架构与工具执行</a:t>
            </a:r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B67904A-9F79-472B-8847-D5297766A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9738" y="1430337"/>
            <a:ext cx="6429375" cy="3857625"/>
          </a:xfrm>
          <a:prstGeom prst="rect">
            <a:avLst/>
          </a:prstGeom>
        </p:spPr>
      </p:pic>
      <p:sp>
        <p:nvSpPr>
          <p:cNvPr id="17" name="内容 页面与应用服务">
            <a:extLst>
              <a:ext uri="{FF2B5EF4-FFF2-40B4-BE49-F238E27FC236}">
                <a16:creationId xmlns:a16="http://schemas.microsoft.com/office/drawing/2014/main" id="{9849DF09-7FBE-486B-8A2B-013DC19B67BA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页面与应用服务</a:t>
            </a:r>
          </a:p>
        </p:txBody>
      </p:sp>
      <p:sp>
        <p:nvSpPr>
          <p:cNvPr id="18" name="内容 ArkUI 承接">
            <a:extLst>
              <a:ext uri="{FF2B5EF4-FFF2-40B4-BE49-F238E27FC236}">
                <a16:creationId xmlns:a16="http://schemas.microsoft.com/office/drawing/2014/main" id="{688305D5-7C81-417A-9848-1CD5742A69BE}"/>
              </a:ext>
            </a:extLst>
          </p:cNvPr>
          <p:cNvSpPr>
            <a:spLocks noGrp="1"/>
          </p:cNvSpPr>
          <p:nvPr/>
        </p:nvSpPr>
        <p:spPr>
          <a:xfrm>
            <a:off x="523875" y="1657350"/>
            <a:ext cx="49244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ArkUI</a:t>
            </a:r>
            <a:r>
              <a:rPr sz="2400" b="1" dirty="0"/>
              <a:t> </a:t>
            </a:r>
            <a:r>
              <a:rPr sz="2400" b="1" dirty="0" err="1"/>
              <a:t>承接页面、输入和状态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应用服务组织会话与业务流程</a:t>
            </a:r>
            <a:endParaRPr sz="2400" b="1" dirty="0"/>
          </a:p>
        </p:txBody>
      </p:sp>
      <p:sp>
        <p:nvSpPr>
          <p:cNvPr id="19" name="内容 模型与工具循环">
            <a:extLst>
              <a:ext uri="{FF2B5EF4-FFF2-40B4-BE49-F238E27FC236}">
                <a16:creationId xmlns:a16="http://schemas.microsoft.com/office/drawing/2014/main" id="{A681E434-D2F5-4745-97DC-6ECEB11ADAA0}"/>
              </a:ext>
            </a:extLst>
          </p:cNvPr>
          <p:cNvSpPr>
            <a:spLocks noGrp="1"/>
          </p:cNvSpPr>
          <p:nvPr/>
        </p:nvSpPr>
        <p:spPr>
          <a:xfrm>
            <a:off x="523874" y="27178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模型与工具循环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内容 DeepSeek">
            <a:extLst>
              <a:ext uri="{FF2B5EF4-FFF2-40B4-BE49-F238E27FC236}">
                <a16:creationId xmlns:a16="http://schemas.microsoft.com/office/drawing/2014/main" id="{B25A055B-A947-4CDD-BAEE-9C38BF10C127}"/>
              </a:ext>
            </a:extLst>
          </p:cNvPr>
          <p:cNvSpPr>
            <a:spLocks noGrp="1"/>
          </p:cNvSpPr>
          <p:nvPr/>
        </p:nvSpPr>
        <p:spPr>
          <a:xfrm>
            <a:off x="523874" y="3162300"/>
            <a:ext cx="5114926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/>
              <a:t>DeepSeek </a:t>
            </a:r>
            <a:r>
              <a:rPr sz="2400" b="1" dirty="0" err="1"/>
              <a:t>理解需求并选择工具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/>
              <a:t>Runtime </a:t>
            </a:r>
            <a:r>
              <a:rPr sz="2400" b="1" dirty="0" err="1"/>
              <a:t>管理授权、参数与执行记录</a:t>
            </a:r>
            <a:endParaRPr sz="2400" b="1" dirty="0"/>
          </a:p>
        </p:txBody>
      </p:sp>
      <p:sp>
        <p:nvSpPr>
          <p:cNvPr id="21" name="内容 平台与外部能力">
            <a:extLst>
              <a:ext uri="{FF2B5EF4-FFF2-40B4-BE49-F238E27FC236}">
                <a16:creationId xmlns:a16="http://schemas.microsoft.com/office/drawing/2014/main" id="{0FCD3C1C-F53E-43F4-A60E-2C601A598A65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平台与外部能力</a:t>
            </a:r>
          </a:p>
        </p:txBody>
      </p:sp>
      <p:sp>
        <p:nvSpPr>
          <p:cNvPr id="22" name="内容 系统日历、存储与">
            <a:extLst>
              <a:ext uri="{FF2B5EF4-FFF2-40B4-BE49-F238E27FC236}">
                <a16:creationId xmlns:a16="http://schemas.microsoft.com/office/drawing/2014/main" id="{9C671195-7AF8-4710-93C6-68163C9D55A7}"/>
              </a:ext>
            </a:extLst>
          </p:cNvPr>
          <p:cNvSpPr>
            <a:spLocks noGrp="1"/>
          </p:cNvSpPr>
          <p:nvPr/>
        </p:nvSpPr>
        <p:spPr>
          <a:xfrm>
            <a:off x="523874" y="4848225"/>
            <a:ext cx="4995863" cy="1276350"/>
          </a:xfrm>
          <a:prstGeom prst="rect">
            <a:avLst/>
          </a:prstGeom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系统日历、存储与音频由适配器接入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搜索通过设备直连</a:t>
            </a:r>
            <a:r>
              <a:rPr sz="2400" b="1" dirty="0"/>
              <a:t> </a:t>
            </a:r>
            <a:r>
              <a:rPr sz="2400" b="1" dirty="0" err="1"/>
              <a:t>Tavily</a:t>
            </a:r>
            <a:endParaRPr sz="2400" b="1" dirty="0"/>
          </a:p>
        </p:txBody>
      </p:sp>
      <p:sp>
        <p:nvSpPr>
          <p:cNvPr id="23" name="内容 架构图：开发设计">
            <a:extLst>
              <a:ext uri="{FF2B5EF4-FFF2-40B4-BE49-F238E27FC236}">
                <a16:creationId xmlns:a16="http://schemas.microsoft.com/office/drawing/2014/main" id="{998BF0F5-0790-488D-AEBC-4DFFD96DC8AF}"/>
              </a:ext>
            </a:extLst>
          </p:cNvPr>
          <p:cNvSpPr>
            <a:spLocks noGrp="1"/>
          </p:cNvSpPr>
          <p:nvPr/>
        </p:nvSpPr>
        <p:spPr>
          <a:xfrm>
            <a:off x="7353300" y="5573712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架构图：开发设计文档图 1</a:t>
            </a:r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>
                <a:latin typeface="微软雅黑"/>
                <a:ea typeface="微软雅黑"/>
                <a:cs typeface="微软雅黑"/>
              </a:rPr>
              <a:t>12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4" y="200290"/>
            <a:ext cx="7557535" cy="446134"/>
          </a:xfrm>
        </p:spPr>
        <p:txBody>
          <a:bodyPr anchor="ctr"/>
          <a:lstStyle/>
          <a:p>
            <a:pPr>
              <a:buNone/>
            </a:pPr>
            <a:r>
              <a:rPr sz="28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知识检索：</a:t>
            </a:r>
            <a:r>
              <a:rPr lang="en-US" sz="28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条链路</a:t>
            </a:r>
            <a:r>
              <a:rPr lang="en-US" altLang="zh-CN" sz="28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--</a:t>
            </a:r>
            <a:r>
              <a:rPr sz="2800" dirty="0" err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从关键词到对话调用</a:t>
            </a:r>
            <a:endParaRPr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25BA9A1-6ED2-4A54-85D0-47DA5254D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28724" y="1600200"/>
            <a:ext cx="6306553" cy="3524250"/>
          </a:xfrm>
          <a:prstGeom prst="rect">
            <a:avLst/>
          </a:prstGeom>
        </p:spPr>
      </p:pic>
      <p:sp>
        <p:nvSpPr>
          <p:cNvPr id="17" name="内容 L0 关键词检索">
            <a:extLst>
              <a:ext uri="{FF2B5EF4-FFF2-40B4-BE49-F238E27FC236}">
                <a16:creationId xmlns:a16="http://schemas.microsoft.com/office/drawing/2014/main" id="{E318C10B-BD13-40D6-8A26-703D9C250364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L0 </a:t>
            </a: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关键词检索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内容 本机 FTS 召">
            <a:extLst>
              <a:ext uri="{FF2B5EF4-FFF2-40B4-BE49-F238E27FC236}">
                <a16:creationId xmlns:a16="http://schemas.microsoft.com/office/drawing/2014/main" id="{BF61799A-1CC7-4D25-8881-2B99D0AD1206}"/>
              </a:ext>
            </a:extLst>
          </p:cNvPr>
          <p:cNvSpPr>
            <a:spLocks noGrp="1"/>
          </p:cNvSpPr>
          <p:nvPr/>
        </p:nvSpPr>
        <p:spPr>
          <a:xfrm>
            <a:off x="523875" y="1657350"/>
            <a:ext cx="4286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本机</a:t>
            </a:r>
            <a:r>
              <a:rPr sz="2400" b="1" dirty="0"/>
              <a:t> FTS </a:t>
            </a:r>
            <a:r>
              <a:rPr sz="2400" b="1" dirty="0" err="1"/>
              <a:t>召回，结合原文核验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字面匹配用于补充与降级</a:t>
            </a:r>
            <a:endParaRPr sz="2400" b="1" dirty="0"/>
          </a:p>
        </p:txBody>
      </p:sp>
      <p:sp>
        <p:nvSpPr>
          <p:cNvPr id="19" name="内容 L1 语义检索">
            <a:extLst>
              <a:ext uri="{FF2B5EF4-FFF2-40B4-BE49-F238E27FC236}">
                <a16:creationId xmlns:a16="http://schemas.microsoft.com/office/drawing/2014/main" id="{E9AA45CF-36B0-42A6-850D-F145F80D2434}"/>
              </a:ext>
            </a:extLst>
          </p:cNvPr>
          <p:cNvSpPr>
            <a:spLocks noGrp="1"/>
          </p:cNvSpPr>
          <p:nvPr/>
        </p:nvSpPr>
        <p:spPr>
          <a:xfrm>
            <a:off x="523875" y="27813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L1 语义检索</a:t>
            </a:r>
          </a:p>
        </p:txBody>
      </p:sp>
      <p:sp>
        <p:nvSpPr>
          <p:cNvPr id="20" name="内容 使用兼容向量空间">
            <a:extLst>
              <a:ext uri="{FF2B5EF4-FFF2-40B4-BE49-F238E27FC236}">
                <a16:creationId xmlns:a16="http://schemas.microsoft.com/office/drawing/2014/main" id="{DFE53DB8-188B-4039-B4E3-513CEA12502F}"/>
              </a:ext>
            </a:extLst>
          </p:cNvPr>
          <p:cNvSpPr>
            <a:spLocks noGrp="1"/>
          </p:cNvSpPr>
          <p:nvPr/>
        </p:nvSpPr>
        <p:spPr>
          <a:xfrm>
            <a:off x="523875" y="3200400"/>
            <a:ext cx="4286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使用兼容向量空间查询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返回匹配片段与资料来源</a:t>
            </a:r>
            <a:endParaRPr sz="2400" b="1" dirty="0"/>
          </a:p>
        </p:txBody>
      </p:sp>
      <p:sp>
        <p:nvSpPr>
          <p:cNvPr id="21" name="内容 L2 助手按需检">
            <a:extLst>
              <a:ext uri="{FF2B5EF4-FFF2-40B4-BE49-F238E27FC236}">
                <a16:creationId xmlns:a16="http://schemas.microsoft.com/office/drawing/2014/main" id="{6754139C-5EA6-4E01-96FF-5019650F5330}"/>
              </a:ext>
            </a:extLst>
          </p:cNvPr>
          <p:cNvSpPr>
            <a:spLocks noGrp="1"/>
          </p:cNvSpPr>
          <p:nvPr/>
        </p:nvSpPr>
        <p:spPr>
          <a:xfrm>
            <a:off x="523875" y="43338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 dirty="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L2 </a:t>
            </a:r>
            <a:r>
              <a:rPr sz="2175" b="1" dirty="0" err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助手按需检索</a:t>
            </a:r>
            <a:endParaRPr sz="2175" b="1" dirty="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内容 用户授权后，模型">
            <a:extLst>
              <a:ext uri="{FF2B5EF4-FFF2-40B4-BE49-F238E27FC236}">
                <a16:creationId xmlns:a16="http://schemas.microsoft.com/office/drawing/2014/main" id="{E88A26A0-FDE5-4E76-825C-F065AB0AC5B5}"/>
              </a:ext>
            </a:extLst>
          </p:cNvPr>
          <p:cNvSpPr>
            <a:spLocks noGrp="1"/>
          </p:cNvSpPr>
          <p:nvPr/>
        </p:nvSpPr>
        <p:spPr>
          <a:xfrm>
            <a:off x="523875" y="4752975"/>
            <a:ext cx="4286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用户授权后，模型选择查询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证据回到当前对话并用于回答</a:t>
            </a:r>
            <a:endParaRPr sz="2400" b="1" dirty="0"/>
          </a:p>
        </p:txBody>
      </p:sp>
      <p:sp>
        <p:nvSpPr>
          <p:cNvPr id="23" name="内容 知识库端口与实现">
            <a:extLst>
              <a:ext uri="{FF2B5EF4-FFF2-40B4-BE49-F238E27FC236}">
                <a16:creationId xmlns:a16="http://schemas.microsoft.com/office/drawing/2014/main" id="{4B17BD98-55C5-4931-8AE1-562A425F78FA}"/>
              </a:ext>
            </a:extLst>
          </p:cNvPr>
          <p:cNvSpPr>
            <a:spLocks noGrp="1"/>
          </p:cNvSpPr>
          <p:nvPr/>
        </p:nvSpPr>
        <p:spPr>
          <a:xfrm>
            <a:off x="7000875" y="5476875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36778"/>
                </a:solidFill>
                <a:latin typeface="微软雅黑"/>
                <a:ea typeface="微软雅黑"/>
                <a:cs typeface="微软雅黑"/>
              </a:rPr>
              <a:t>知识库端口与实现关系</a:t>
            </a:r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DB16885-0D3F-A391-B669-3211DB3B26E8}" type="slidenum">
              <a:rPr>
                <a:latin typeface="微软雅黑"/>
                <a:ea typeface="微软雅黑"/>
                <a:cs typeface="微软雅黑"/>
              </a:rPr>
              <a:t>13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关键设计：授权、记忆与生命周期</a:t>
            </a:r>
            <a:endParaRPr/>
          </a:p>
        </p:txBody>
      </p:sp>
      <p:sp>
        <p:nvSpPr>
          <p:cNvPr id="16" name="内容 围绕真实操作建立">
            <a:extLst>
              <a:ext uri="{FF2B5EF4-FFF2-40B4-BE49-F238E27FC236}">
                <a16:creationId xmlns:a16="http://schemas.microsoft.com/office/drawing/2014/main" id="{5AFB9993-67D3-4DCB-AFDA-7AE6CDC032C6}"/>
              </a:ext>
            </a:extLst>
          </p:cNvPr>
          <p:cNvSpPr>
            <a:spLocks noGrp="1"/>
          </p:cNvSpPr>
          <p:nvPr/>
        </p:nvSpPr>
        <p:spPr>
          <a:xfrm>
            <a:off x="619125" y="10953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围绕真实操作建立可见、可确认的交互</a:t>
            </a:r>
          </a:p>
        </p:txBody>
      </p:sp>
      <p:sp>
        <p:nvSpPr>
          <p:cNvPr id="17" name="内容 授权按用途区分">
            <a:extLst>
              <a:ext uri="{FF2B5EF4-FFF2-40B4-BE49-F238E27FC236}">
                <a16:creationId xmlns:a16="http://schemas.microsoft.com/office/drawing/2014/main" id="{1942918E-0D11-49F0-BDD9-7D4263BDD581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授权按用途区分</a:t>
            </a:r>
          </a:p>
        </p:txBody>
      </p:sp>
      <p:sp>
        <p:nvSpPr>
          <p:cNvPr id="18" name="内容 知识库与搜索分别">
            <a:extLst>
              <a:ext uri="{FF2B5EF4-FFF2-40B4-BE49-F238E27FC236}">
                <a16:creationId xmlns:a16="http://schemas.microsoft.com/office/drawing/2014/main" id="{8755F566-7B34-4EA6-8BB6-EB54E58DB370}"/>
              </a:ext>
            </a:extLst>
          </p:cNvPr>
          <p:cNvSpPr>
            <a:spLocks noGrp="1"/>
          </p:cNvSpPr>
          <p:nvPr/>
        </p:nvSpPr>
        <p:spPr>
          <a:xfrm>
            <a:off x="619125" y="2428875"/>
            <a:ext cx="4857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知识库与搜索分别开启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查询和资料外发遵循各自许可</a:t>
            </a:r>
            <a:endParaRPr sz="2400" b="1" dirty="0"/>
          </a:p>
        </p:txBody>
      </p:sp>
      <p:sp>
        <p:nvSpPr>
          <p:cNvPr id="19" name="内容 日程由用户确认">
            <a:extLst>
              <a:ext uri="{FF2B5EF4-FFF2-40B4-BE49-F238E27FC236}">
                <a16:creationId xmlns:a16="http://schemas.microsoft.com/office/drawing/2014/main" id="{BAF919F1-946A-472A-AFB6-FC8671C1CD28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日程由用户确认</a:t>
            </a:r>
          </a:p>
        </p:txBody>
      </p:sp>
      <p:sp>
        <p:nvSpPr>
          <p:cNvPr id="20" name="内容 模型提出草稿，用">
            <a:extLst>
              <a:ext uri="{FF2B5EF4-FFF2-40B4-BE49-F238E27FC236}">
                <a16:creationId xmlns:a16="http://schemas.microsoft.com/office/drawing/2014/main" id="{9FB18BBE-152C-4923-8351-8F4C91C0FE09}"/>
              </a:ext>
            </a:extLst>
          </p:cNvPr>
          <p:cNvSpPr>
            <a:spLocks noGrp="1"/>
          </p:cNvSpPr>
          <p:nvPr/>
        </p:nvSpPr>
        <p:spPr>
          <a:xfrm>
            <a:off x="6381750" y="2428875"/>
            <a:ext cx="4762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模型提出草稿，用户检查后提交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执行结果与草稿状态分别展示</a:t>
            </a:r>
            <a:endParaRPr sz="2400" b="1" dirty="0"/>
          </a:p>
        </p:txBody>
      </p:sp>
      <p:sp>
        <p:nvSpPr>
          <p:cNvPr id="21" name="内容 普通记忆可恢复">
            <a:extLst>
              <a:ext uri="{FF2B5EF4-FFF2-40B4-BE49-F238E27FC236}">
                <a16:creationId xmlns:a16="http://schemas.microsoft.com/office/drawing/2014/main" id="{8108004D-B340-4010-A7F7-C30A42BA60C2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普通记忆可恢复</a:t>
            </a:r>
          </a:p>
        </p:txBody>
      </p:sp>
      <p:sp>
        <p:nvSpPr>
          <p:cNvPr id="22" name="内容 对话和摘要保存在">
            <a:extLst>
              <a:ext uri="{FF2B5EF4-FFF2-40B4-BE49-F238E27FC236}">
                <a16:creationId xmlns:a16="http://schemas.microsoft.com/office/drawing/2014/main" id="{9959C17E-549D-470B-95D5-1F3EF4B9EDEC}"/>
              </a:ext>
            </a:extLst>
          </p:cNvPr>
          <p:cNvSpPr>
            <a:spLocks noGrp="1"/>
          </p:cNvSpPr>
          <p:nvPr/>
        </p:nvSpPr>
        <p:spPr>
          <a:xfrm>
            <a:off x="619125" y="42862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对话和摘要保存在本机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知识证据在当前授权会话中使用</a:t>
            </a:r>
            <a:endParaRPr sz="2400" b="1" dirty="0"/>
          </a:p>
        </p:txBody>
      </p:sp>
      <p:sp>
        <p:nvSpPr>
          <p:cNvPr id="23" name="内容 异步任务可收尾">
            <a:extLst>
              <a:ext uri="{FF2B5EF4-FFF2-40B4-BE49-F238E27FC236}">
                <a16:creationId xmlns:a16="http://schemas.microsoft.com/office/drawing/2014/main" id="{FE4D86C0-E02B-4FA1-A905-5C5FBFA725FE}"/>
              </a:ext>
            </a:extLst>
          </p:cNvPr>
          <p:cNvSpPr>
            <a:spLocks noGrp="1"/>
          </p:cNvSpPr>
          <p:nvPr/>
        </p:nvSpPr>
        <p:spPr>
          <a:xfrm>
            <a:off x="6381750" y="38576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异步任务可收尾</a:t>
            </a:r>
          </a:p>
        </p:txBody>
      </p:sp>
      <p:sp>
        <p:nvSpPr>
          <p:cNvPr id="24" name="内容 切换、后台和取消">
            <a:extLst>
              <a:ext uri="{FF2B5EF4-FFF2-40B4-BE49-F238E27FC236}">
                <a16:creationId xmlns:a16="http://schemas.microsoft.com/office/drawing/2014/main" id="{5E29864B-08A7-42F2-80AD-78C1609C6EE6}"/>
              </a:ext>
            </a:extLst>
          </p:cNvPr>
          <p:cNvSpPr>
            <a:spLocks noGrp="1"/>
          </p:cNvSpPr>
          <p:nvPr/>
        </p:nvSpPr>
        <p:spPr>
          <a:xfrm>
            <a:off x="6381750" y="428625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切换、后台和取消管理在途任务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会话标识隔离迟到回调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">
            <a:extLst>
              <a:ext uri="{FF2B5EF4-FFF2-40B4-BE49-F238E27FC236}">
                <a16:creationId xmlns:a16="http://schemas.microsoft.com/office/drawing/2014/main" id="{9861A419-B3D8-4075-AABB-255479934F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2DD23107-4986-8758-3A93-3D74F35908CC}" type="slidenum">
              <a:rPr>
                <a:latin typeface="微软雅黑"/>
                <a:ea typeface="微软雅黑"/>
                <a:cs typeface="微软雅黑"/>
              </a:rPr>
              <a:t>14</a:t>
            </a:fld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2BB0417-C339-4262-866D-A8D43B68666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>
              <a:buNone/>
            </a:pPr>
            <a:r>
              <a:rPr sz="2800" dirty="0" err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完成</a:t>
            </a:r>
            <a:r>
              <a:rPr lang="zh-CN" altLang="en-US" sz="28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，优化目标与分工</a:t>
            </a:r>
            <a:endParaRPr dirty="0"/>
          </a:p>
        </p:txBody>
      </p:sp>
      <p:sp>
        <p:nvSpPr>
          <p:cNvPr id="16" name="内容 当前完成">
            <a:extLst>
              <a:ext uri="{FF2B5EF4-FFF2-40B4-BE49-F238E27FC236}">
                <a16:creationId xmlns:a16="http://schemas.microsoft.com/office/drawing/2014/main" id="{0D19FF1B-EF88-489B-BCCA-1A8C37E23E60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当前完成</a:t>
            </a:r>
          </a:p>
        </p:txBody>
      </p:sp>
      <p:sp>
        <p:nvSpPr>
          <p:cNvPr id="17" name="内容 统一助手与会话历">
            <a:extLst>
              <a:ext uri="{FF2B5EF4-FFF2-40B4-BE49-F238E27FC236}">
                <a16:creationId xmlns:a16="http://schemas.microsoft.com/office/drawing/2014/main" id="{54E7E6BB-0A94-4AE7-BF67-65B8773AA864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5191125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统一助手与会话历史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知识库资料处理与检索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日程草稿、确认及工作台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文档、语音、图片及搜索</a:t>
            </a:r>
            <a:endParaRPr sz="2400" b="1" dirty="0"/>
          </a:p>
        </p:txBody>
      </p:sp>
      <p:sp>
        <p:nvSpPr>
          <p:cNvPr id="18" name="内容 下一步">
            <a:extLst>
              <a:ext uri="{FF2B5EF4-FFF2-40B4-BE49-F238E27FC236}">
                <a16:creationId xmlns:a16="http://schemas.microsoft.com/office/drawing/2014/main" id="{A2A430B3-894F-4779-90A3-1C97A9D6FAE8}"/>
              </a:ext>
            </a:extLst>
          </p:cNvPr>
          <p:cNvSpPr>
            <a:spLocks noGrp="1"/>
          </p:cNvSpPr>
          <p:nvPr/>
        </p:nvSpPr>
        <p:spPr>
          <a:xfrm>
            <a:off x="6334125" y="114300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19" name="内容 补充真机和异常路">
            <a:extLst>
              <a:ext uri="{FF2B5EF4-FFF2-40B4-BE49-F238E27FC236}">
                <a16:creationId xmlns:a16="http://schemas.microsoft.com/office/drawing/2014/main" id="{C033A718-16AD-4D99-9B27-A3FAA8D27BBF}"/>
              </a:ext>
            </a:extLst>
          </p:cNvPr>
          <p:cNvSpPr>
            <a:spLocks noGrp="1"/>
          </p:cNvSpPr>
          <p:nvPr/>
        </p:nvSpPr>
        <p:spPr>
          <a:xfrm>
            <a:off x="6334125" y="1571624"/>
            <a:ext cx="4953000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 dirty="0"/>
              <a:t>补充真机验收</a:t>
            </a:r>
            <a:endParaRPr lang="en-US" altLang="zh-CN"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改善大型知识库首次打开性能</a:t>
            </a:r>
            <a:endParaRPr lang="en-US"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 dirty="0"/>
              <a:t>以及多嵌入模型入库适配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推进多设备</a:t>
            </a:r>
            <a:r>
              <a:rPr lang="zh-CN" altLang="en-US" sz="2400" b="1" dirty="0"/>
              <a:t>协同</a:t>
            </a:r>
            <a:endParaRPr lang="en-US" altLang="zh-CN"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/>
              <a:t>多 Agent </a:t>
            </a:r>
            <a:r>
              <a:rPr sz="2400" b="1" dirty="0" err="1"/>
              <a:t>目标</a:t>
            </a:r>
            <a:endParaRPr sz="2400" b="1" dirty="0"/>
          </a:p>
        </p:txBody>
      </p:sp>
      <p:sp>
        <p:nvSpPr>
          <p:cNvPr id="20" name="内容 团队分工">
            <a:extLst>
              <a:ext uri="{FF2B5EF4-FFF2-40B4-BE49-F238E27FC236}">
                <a16:creationId xmlns:a16="http://schemas.microsoft.com/office/drawing/2014/main" id="{499C8802-428A-4EAA-A728-4C64C73669A6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团队分工</a:t>
            </a:r>
          </a:p>
        </p:txBody>
      </p:sp>
      <p:sp>
        <p:nvSpPr>
          <p:cNvPr id="21" name="内容 李泽同">
            <a:extLst>
              <a:ext uri="{FF2B5EF4-FFF2-40B4-BE49-F238E27FC236}">
                <a16:creationId xmlns:a16="http://schemas.microsoft.com/office/drawing/2014/main" id="{CCA15037-BD03-4243-8FA1-F78F2A09E671}"/>
              </a:ext>
            </a:extLst>
          </p:cNvPr>
          <p:cNvSpPr>
            <a:spLocks noGrp="1"/>
          </p:cNvSpPr>
          <p:nvPr/>
        </p:nvSpPr>
        <p:spPr>
          <a:xfrm>
            <a:off x="571500" y="40481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李泽同</a:t>
            </a:r>
          </a:p>
        </p:txBody>
      </p:sp>
      <p:sp>
        <p:nvSpPr>
          <p:cNvPr id="22" name="内容 仓库与 CI、开">
            <a:extLst>
              <a:ext uri="{FF2B5EF4-FFF2-40B4-BE49-F238E27FC236}">
                <a16:creationId xmlns:a16="http://schemas.microsoft.com/office/drawing/2014/main" id="{D091D619-077E-493C-8B97-F737A3A0BBC5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33909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仓库与</a:t>
            </a:r>
            <a:r>
              <a:rPr sz="2400" b="1" dirty="0"/>
              <a:t> </a:t>
            </a:r>
            <a:r>
              <a:rPr sz="2400" b="1" dirty="0" err="1"/>
              <a:t>CI、开发规范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知识库、集成及多端适配</a:t>
            </a:r>
            <a:endParaRPr sz="2400" b="1" dirty="0"/>
          </a:p>
        </p:txBody>
      </p:sp>
      <p:sp>
        <p:nvSpPr>
          <p:cNvPr id="23" name="内容 王宣昊">
            <a:extLst>
              <a:ext uri="{FF2B5EF4-FFF2-40B4-BE49-F238E27FC236}">
                <a16:creationId xmlns:a16="http://schemas.microsoft.com/office/drawing/2014/main" id="{C5CF3B2A-6284-4CAD-A9AE-7CFB010A79A2}"/>
              </a:ext>
            </a:extLst>
          </p:cNvPr>
          <p:cNvSpPr>
            <a:spLocks noGrp="1"/>
          </p:cNvSpPr>
          <p:nvPr/>
        </p:nvSpPr>
        <p:spPr>
          <a:xfrm>
            <a:off x="4286250" y="40481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王宣昊</a:t>
            </a:r>
          </a:p>
        </p:txBody>
      </p:sp>
      <p:sp>
        <p:nvSpPr>
          <p:cNvPr id="24" name="内容 前端 UI、日程">
            <a:extLst>
              <a:ext uri="{FF2B5EF4-FFF2-40B4-BE49-F238E27FC236}">
                <a16:creationId xmlns:a16="http://schemas.microsoft.com/office/drawing/2014/main" id="{C71F701F-216F-4C79-AFAD-FB2A7C67D023}"/>
              </a:ext>
            </a:extLst>
          </p:cNvPr>
          <p:cNvSpPr>
            <a:spLocks noGrp="1"/>
          </p:cNvSpPr>
          <p:nvPr/>
        </p:nvSpPr>
        <p:spPr>
          <a:xfrm>
            <a:off x="4286250" y="4410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前端</a:t>
            </a:r>
            <a:r>
              <a:rPr sz="2400" b="1" dirty="0"/>
              <a:t> </a:t>
            </a:r>
            <a:r>
              <a:rPr sz="2400" b="1" dirty="0" err="1"/>
              <a:t>UI、日程、搜索及模块适配</a:t>
            </a:r>
            <a:endParaRPr sz="2400" b="1" dirty="0"/>
          </a:p>
        </p:txBody>
      </p:sp>
      <p:sp>
        <p:nvSpPr>
          <p:cNvPr id="25" name="内容 徐泽宇">
            <a:extLst>
              <a:ext uri="{FF2B5EF4-FFF2-40B4-BE49-F238E27FC236}">
                <a16:creationId xmlns:a16="http://schemas.microsoft.com/office/drawing/2014/main" id="{487C722E-90D9-441E-9CCB-ADB68758DCA0}"/>
              </a:ext>
            </a:extLst>
          </p:cNvPr>
          <p:cNvSpPr>
            <a:spLocks noGrp="1"/>
          </p:cNvSpPr>
          <p:nvPr/>
        </p:nvSpPr>
        <p:spPr>
          <a:xfrm>
            <a:off x="8001000" y="40481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0263A"/>
                </a:solidFill>
                <a:latin typeface="微软雅黑"/>
                <a:ea typeface="微软雅黑"/>
                <a:cs typeface="微软雅黑"/>
              </a:rPr>
              <a:t>徐泽宇</a:t>
            </a:r>
          </a:p>
        </p:txBody>
      </p:sp>
      <p:sp>
        <p:nvSpPr>
          <p:cNvPr id="26" name="内容 Agent 集成">
            <a:extLst>
              <a:ext uri="{FF2B5EF4-FFF2-40B4-BE49-F238E27FC236}">
                <a16:creationId xmlns:a16="http://schemas.microsoft.com/office/drawing/2014/main" id="{A68CDED2-D78A-4C31-97CF-2D3C181A6B28}"/>
              </a:ext>
            </a:extLst>
          </p:cNvPr>
          <p:cNvSpPr>
            <a:spLocks noGrp="1"/>
          </p:cNvSpPr>
          <p:nvPr/>
        </p:nvSpPr>
        <p:spPr>
          <a:xfrm>
            <a:off x="8001000" y="4410075"/>
            <a:ext cx="3238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/>
              <a:t>Agent </a:t>
            </a:r>
            <a:r>
              <a:rPr sz="2400" b="1" dirty="0" err="1"/>
              <a:t>集成与主对话</a:t>
            </a:r>
            <a:endParaRPr sz="2400" b="1" dirty="0"/>
          </a:p>
          <a:p>
            <a:pPr>
              <a:defRPr sz="1950" b="0">
                <a:solidFill>
                  <a:srgbClr val="2636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/>
              <a:t>多模态及文档工具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4801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8">
            <a:extLst>
              <a:ext uri="{FF2B5EF4-FFF2-40B4-BE49-F238E27FC236}">
                <a16:creationId xmlns:a16="http://schemas.microsoft.com/office/drawing/2014/main" id="{AABEB2FC-EAFB-4932-B856-817AA46BA27A}"/>
              </a:ext>
            </a:extLst>
          </p:cNvPr>
          <p:cNvSpPr>
            <a:spLocks noGrp="1"/>
          </p:cNvSpPr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r>
              <a:rPr sz="660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44E86431-3FDD-4B9E-B37D-4C87FFB20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6729897"/>
      </p:ext>
    </p:extLst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DocSecurity>0</DocSecurity>
  <PresentationFormat>宽屏</PresentationFormat>
  <Paragraphs>183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Source Han Sans CN Normal</vt:lpstr>
      <vt:lpstr>微软雅黑</vt:lpstr>
      <vt:lpstr>Arial</vt:lpstr>
      <vt:lpstr>Calibri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ZT L</cp:lastModifiedBy>
  <cp:revision>1</cp:revision>
  <dcterms:created xsi:type="dcterms:W3CDTF">2026-10-31T06:34:54Z</dcterms:created>
  <dcterms:modified xsi:type="dcterms:W3CDTF">2026-10-31T07:16:35Z</dcterms:modified>
</cp:coreProperties>
</file>